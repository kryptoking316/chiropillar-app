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jpg" ContentType="image/jp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71A27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71A27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71A27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71A27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7237082"/>
            <a:ext cx="9144000" cy="440055"/>
          </a:xfrm>
          <a:custGeom>
            <a:avLst/>
            <a:gdLst/>
            <a:ahLst/>
            <a:cxnLst/>
            <a:rect l="l" t="t" r="r" b="b"/>
            <a:pathLst>
              <a:path w="9144000" h="440054">
                <a:moveTo>
                  <a:pt x="9144000" y="0"/>
                </a:moveTo>
                <a:lnTo>
                  <a:pt x="0" y="0"/>
                </a:lnTo>
                <a:lnTo>
                  <a:pt x="0" y="439839"/>
                </a:lnTo>
                <a:lnTo>
                  <a:pt x="9144000" y="439839"/>
                </a:lnTo>
                <a:lnTo>
                  <a:pt x="9144000" y="0"/>
                </a:lnTo>
                <a:close/>
              </a:path>
            </a:pathLst>
          </a:custGeom>
          <a:solidFill>
            <a:srgbClr val="3952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8008" y="-53807"/>
            <a:ext cx="4217035" cy="1309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71A27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mailto:Kevin@ShannonGroup.biz" TargetMode="External"/><Relationship Id="rId4" Type="http://schemas.openxmlformats.org/officeDocument/2006/relationships/hyperlink" Target="http://www.ShannonGroup.biz/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hyperlink" Target="mailto:Kevin@ShannonGroup.biz" TargetMode="External"/><Relationship Id="rId6" Type="http://schemas.openxmlformats.org/officeDocument/2006/relationships/hyperlink" Target="http://www.ShannonGroup.biz/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hyperlink" Target="mailto:Kevin@ShannonGroup.biz" TargetMode="External"/><Relationship Id="rId6" Type="http://schemas.openxmlformats.org/officeDocument/2006/relationships/hyperlink" Target="http://www.ShannonGroup.biz/" TargetMode="Externa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2.png"/><Relationship Id="rId5" Type="http://schemas.openxmlformats.org/officeDocument/2006/relationships/hyperlink" Target="mailto:Kevin@ShannonGroup.biz" TargetMode="External"/><Relationship Id="rId6" Type="http://schemas.openxmlformats.org/officeDocument/2006/relationships/hyperlink" Target="http://www.ShannonGroup.biz/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hyperlink" Target="mailto:Kevin@ShannonGroup.biz" TargetMode="External"/><Relationship Id="rId6" Type="http://schemas.openxmlformats.org/officeDocument/2006/relationships/hyperlink" Target="http://www.ShannonGroup.biz/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hyperlink" Target="mailto:Kevin@ShannonGroup.biz" TargetMode="External"/><Relationship Id="rId6" Type="http://schemas.openxmlformats.org/officeDocument/2006/relationships/hyperlink" Target="http://www.ShannonGroup.biz/" TargetMode="Externa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hyperlink" Target="mailto:Kevin@ShannonGroup.biz" TargetMode="External"/><Relationship Id="rId6" Type="http://schemas.openxmlformats.org/officeDocument/2006/relationships/hyperlink" Target="http://www.ShannonGroup.biz/" TargetMode="Externa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hyperlink" Target="mailto:Kevin@ShannonGroup.biz" TargetMode="External"/><Relationship Id="rId6" Type="http://schemas.openxmlformats.org/officeDocument/2006/relationships/hyperlink" Target="http://www.ShannonGroup.biz/" TargetMode="Externa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Kevin@ShannonGroup.biz" TargetMode="External"/><Relationship Id="rId5" Type="http://schemas.openxmlformats.org/officeDocument/2006/relationships/hyperlink" Target="http://www.ShannonGroup.biz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37719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 spc="-20">
                <a:solidFill>
                  <a:srgbClr val="000000"/>
                </a:solidFill>
              </a:rPr>
              <a:t>: </a:t>
            </a:r>
            <a:r>
              <a:rPr dirty="0" sz="1800">
                <a:solidFill>
                  <a:srgbClr val="000000"/>
                </a:solidFill>
              </a:rPr>
              <a:t>New</a:t>
            </a:r>
            <a:r>
              <a:rPr dirty="0" sz="1800" spc="-20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Jersey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104257" y="1535937"/>
            <a:ext cx="4028440" cy="1885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Founded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1998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owner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partner.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100">
                <a:latin typeface="Calibri"/>
                <a:cs typeface="Calibri"/>
              </a:rPr>
              <a:t>Revenues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split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evenly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between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roofing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siding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projects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20900"/>
              </a:lnSpc>
              <a:spcBef>
                <a:spcPts val="600"/>
              </a:spcBef>
            </a:pP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payroll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consists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employees—</a:t>
            </a:r>
            <a:r>
              <a:rPr dirty="0" sz="1100">
                <a:latin typeface="Calibri"/>
                <a:cs typeface="Calibri"/>
              </a:rPr>
              <a:t>3 salespeople,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production </a:t>
            </a:r>
            <a:r>
              <a:rPr dirty="0" sz="1100">
                <a:latin typeface="Calibri"/>
                <a:cs typeface="Calibri"/>
              </a:rPr>
              <a:t>managers,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call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center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representatives.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100">
                <a:latin typeface="Calibri"/>
                <a:cs typeface="Calibri"/>
              </a:rPr>
              <a:t>Average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$33,000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persistent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backlog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~$500k.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$7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14.3%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79746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852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Repair/Replacement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3888740" cy="1420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  <a:tab pos="2120265" algn="l"/>
                <a:tab pos="23495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Maintenance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000" spc="-50">
                <a:latin typeface="Symbol"/>
                <a:cs typeface="Symbol"/>
              </a:rPr>
              <a:t>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200" spc="-10">
                <a:latin typeface="Calibri"/>
                <a:cs typeface="Calibri"/>
              </a:rPr>
              <a:t>Coating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71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Ownership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seeking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exit.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Staff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sale.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6414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Gutterwork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Siding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712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Garage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Doors,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Skylights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326885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019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4700270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5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5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 spc="-20">
                <a:solidFill>
                  <a:srgbClr val="000000"/>
                </a:solidFill>
              </a:rPr>
              <a:t>:</a:t>
            </a:r>
            <a:r>
              <a:rPr dirty="0" sz="1800" spc="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Florida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104257" y="1535937"/>
            <a:ext cx="4201795" cy="2090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Founded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2005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owner.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20900"/>
              </a:lnSpc>
              <a:spcBef>
                <a:spcPts val="605"/>
              </a:spcBef>
            </a:pPr>
            <a:r>
              <a:rPr dirty="0" sz="1100">
                <a:latin typeface="Calibri"/>
                <a:cs typeface="Calibri"/>
              </a:rPr>
              <a:t>Staff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includes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lead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sellers,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office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manager,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production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manager,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6-</a:t>
            </a:r>
            <a:r>
              <a:rPr dirty="0" sz="1100" spc="-50">
                <a:latin typeface="Calibri"/>
                <a:cs typeface="Calibri"/>
              </a:rPr>
              <a:t>7</a:t>
            </a:r>
            <a:r>
              <a:rPr dirty="0" sz="1100">
                <a:latin typeface="Calibri"/>
                <a:cs typeface="Calibri"/>
              </a:rPr>
              <a:t> project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managers,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inhouse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crew,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time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estimator,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sales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managers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full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time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permit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runner,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bookkeeper/CFO.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100">
                <a:latin typeface="Calibri"/>
                <a:cs typeface="Calibri"/>
              </a:rPr>
              <a:t>Focus on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higher-</a:t>
            </a:r>
            <a:r>
              <a:rPr dirty="0" sz="1100">
                <a:latin typeface="Calibri"/>
                <a:cs typeface="Calibri"/>
              </a:rPr>
              <a:t>end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homes.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100">
                <a:latin typeface="Calibri"/>
                <a:cs typeface="Calibri"/>
              </a:rPr>
              <a:t>$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8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revenues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booked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thus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far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2024.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465573"/>
          <a:ext cx="4694555" cy="1532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02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6.6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.185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marL="3746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2.8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60" b="1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5.3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14.6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1.2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marL="3746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8.2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60" b="1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$12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33390" y="6118733"/>
          <a:ext cx="4518660" cy="1001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446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93471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Ventilation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1106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Coatings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66741"/>
            <a:ext cx="9791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326885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036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076" y="5713857"/>
            <a:ext cx="4070350" cy="9817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period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after </a:t>
            </a:r>
            <a:r>
              <a:rPr dirty="0" sz="1200">
                <a:latin typeface="Calibri"/>
                <a:cs typeface="Calibri"/>
              </a:rPr>
              <a:t>sale,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discussion.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5399405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50/50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&amp;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Retail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Carolinas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321175" cy="19932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2007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owner.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605"/>
              </a:spcBef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Build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sustained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stead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-25">
                <a:latin typeface="Calibri"/>
                <a:cs typeface="Calibri"/>
              </a:rPr>
              <a:t> of </a:t>
            </a:r>
            <a:r>
              <a:rPr dirty="0" sz="1200" spc="-10">
                <a:latin typeface="Calibri"/>
                <a:cs typeface="Calibri"/>
              </a:rPr>
              <a:t>70-</a:t>
            </a:r>
            <a:r>
              <a:rPr dirty="0" sz="1200">
                <a:latin typeface="Calibri"/>
                <a:cs typeface="Calibri"/>
              </a:rPr>
              <a:t>80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repeat</a:t>
            </a:r>
            <a:r>
              <a:rPr dirty="0" sz="1200" spc="-10">
                <a:latin typeface="Calibri"/>
                <a:cs typeface="Calibri"/>
              </a:rPr>
              <a:t> clients.</a:t>
            </a:r>
            <a:endParaRPr sz="1200">
              <a:latin typeface="Calibri"/>
              <a:cs typeface="Calibri"/>
            </a:endParaRPr>
          </a:p>
          <a:p>
            <a:pPr marL="12700" marR="1492885">
              <a:lnSpc>
                <a:spcPct val="1625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Full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line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sheet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metal</a:t>
            </a:r>
            <a:r>
              <a:rPr dirty="0" sz="1200" spc="-20">
                <a:latin typeface="Calibri"/>
                <a:cs typeface="Calibri"/>
              </a:rPr>
              <a:t> shop.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waterproofing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stream.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621021"/>
          <a:ext cx="4694555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$40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$4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0757" y="5620892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97%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446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17348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Sheet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Fabrication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9791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169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Waterproofing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66741"/>
            <a:ext cx="897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Inspection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037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076" y="5639180"/>
            <a:ext cx="3896995" cy="1368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08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Founder/Owner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conversation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regarding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 </a:t>
            </a:r>
            <a:r>
              <a:rPr dirty="0" sz="1200">
                <a:latin typeface="Calibri"/>
                <a:cs typeface="Calibri"/>
              </a:rPr>
              <a:t>post</a:t>
            </a:r>
            <a:r>
              <a:rPr dirty="0" sz="1200" spc="-10">
                <a:latin typeface="Calibri"/>
                <a:cs typeface="Calibri"/>
              </a:rPr>
              <a:t> sale.</a:t>
            </a:r>
            <a:endParaRPr sz="1200">
              <a:latin typeface="Calibri"/>
              <a:cs typeface="Calibri"/>
            </a:endParaRPr>
          </a:p>
          <a:p>
            <a:pPr marL="241300" marR="71120" indent="-228600">
              <a:lnSpc>
                <a:spcPct val="120800"/>
              </a:lnSpc>
              <a:spcBef>
                <a:spcPts val="61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Real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Estate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~$1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prefer</a:t>
            </a:r>
            <a:r>
              <a:rPr dirty="0" sz="1200" spc="-25">
                <a:latin typeface="Calibri"/>
                <a:cs typeface="Calibri"/>
              </a:rPr>
              <a:t> to </a:t>
            </a:r>
            <a:r>
              <a:rPr dirty="0" sz="1200">
                <a:latin typeface="Calibri"/>
                <a:cs typeface="Calibri"/>
              </a:rPr>
              <a:t>lease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buyer.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84836"/>
            <a:ext cx="34829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18008" y="519430"/>
            <a:ext cx="3858260" cy="128524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800" b="1">
                <a:latin typeface="Calibri"/>
                <a:cs typeface="Calibri"/>
              </a:rPr>
              <a:t>Commercial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Roofing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Company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800" spc="-20" b="1">
                <a:latin typeface="Calibri"/>
                <a:cs typeface="Calibri"/>
              </a:rPr>
              <a:t>Territory: </a:t>
            </a:r>
            <a:r>
              <a:rPr dirty="0" sz="1800" spc="-10">
                <a:latin typeface="Calibri"/>
                <a:cs typeface="Calibri"/>
              </a:rPr>
              <a:t>California,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Oregon,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Washington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800">
              <a:latin typeface="Calibri"/>
              <a:cs typeface="Calibri"/>
            </a:endParaRPr>
          </a:p>
          <a:p>
            <a:pPr marL="175260">
              <a:lnSpc>
                <a:spcPct val="100000"/>
              </a:lnSpc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06721" y="1502410"/>
            <a:ext cx="4457700" cy="18408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600">
              <a:latin typeface="Calibri"/>
              <a:cs typeface="Calibri"/>
            </a:endParaRPr>
          </a:p>
          <a:p>
            <a:pPr algn="just" marL="12700" marR="5080">
              <a:lnSpc>
                <a:spcPct val="120900"/>
              </a:lnSpc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1985.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equipment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self-</a:t>
            </a:r>
            <a:r>
              <a:rPr dirty="0" sz="1200" spc="-10">
                <a:latin typeface="Calibri"/>
                <a:cs typeface="Calibri"/>
              </a:rPr>
              <a:t>perform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cranes,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hoists,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sheet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shops,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forklifts, </a:t>
            </a:r>
            <a:r>
              <a:rPr dirty="0" sz="1200">
                <a:latin typeface="Calibri"/>
                <a:cs typeface="Calibri"/>
              </a:rPr>
              <a:t>etc,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shops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outfitted.</a:t>
            </a:r>
            <a:endParaRPr sz="1200">
              <a:latin typeface="Calibri"/>
              <a:cs typeface="Calibri"/>
            </a:endParaRPr>
          </a:p>
          <a:p>
            <a:pPr algn="just" marL="12700" marR="625475">
              <a:lnSpc>
                <a:spcPct val="120800"/>
              </a:lnSpc>
              <a:spcBef>
                <a:spcPts val="610"/>
              </a:spcBef>
            </a:pPr>
            <a:r>
              <a:rPr dirty="0" sz="1200">
                <a:latin typeface="Calibri"/>
                <a:cs typeface="Calibri"/>
              </a:rPr>
              <a:t>95%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repeat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customers.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car </a:t>
            </a:r>
            <a:r>
              <a:rPr dirty="0" sz="1200">
                <a:latin typeface="Calibri"/>
                <a:cs typeface="Calibri"/>
              </a:rPr>
              <a:t>dealerships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stations.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4982845" y="4621021"/>
          <a:ext cx="4694555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$8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$2.5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31.25%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5040757" y="5620892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481076" y="4570857"/>
            <a:ext cx="1446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4868036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1076" y="5166741"/>
            <a:ext cx="1555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Gas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Canopies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570857"/>
            <a:ext cx="12820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Inspections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4868036"/>
            <a:ext cx="1169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Waterproofing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589022" y="5166741"/>
            <a:ext cx="5664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Solar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038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81076" y="5639180"/>
            <a:ext cx="4116070" cy="1368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08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Founder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shifting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ownership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employees,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willing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transition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period.</a:t>
            </a:r>
            <a:endParaRPr sz="1200">
              <a:latin typeface="Calibri"/>
              <a:cs typeface="Calibri"/>
            </a:endParaRPr>
          </a:p>
          <a:p>
            <a:pPr marL="241300" marR="370840" indent="-228600">
              <a:lnSpc>
                <a:spcPct val="120800"/>
              </a:lnSpc>
              <a:spcBef>
                <a:spcPts val="61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20-</a:t>
            </a:r>
            <a:r>
              <a:rPr dirty="0" sz="1200">
                <a:latin typeface="Calibri"/>
                <a:cs typeface="Calibri"/>
              </a:rPr>
              <a:t>25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employees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“tele-</a:t>
            </a:r>
            <a:r>
              <a:rPr dirty="0" sz="1200">
                <a:latin typeface="Calibri"/>
                <a:cs typeface="Calibri"/>
              </a:rPr>
              <a:t>commute”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Columbia,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South America.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Storm-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Related</a:t>
            </a:r>
            <a:r>
              <a:rPr dirty="0" sz="1800" spc="-8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8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8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 spc="-20">
                <a:solidFill>
                  <a:srgbClr val="000000"/>
                </a:solidFill>
              </a:rPr>
              <a:t>:</a:t>
            </a:r>
            <a:r>
              <a:rPr dirty="0" sz="1800" spc="5">
                <a:solidFill>
                  <a:srgbClr val="000000"/>
                </a:solidFill>
              </a:rPr>
              <a:t> </a:t>
            </a:r>
            <a:r>
              <a:rPr dirty="0" sz="1800" spc="-20">
                <a:solidFill>
                  <a:srgbClr val="000000"/>
                </a:solidFill>
              </a:rPr>
              <a:t>Texas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104257" y="1535937"/>
            <a:ext cx="4020185" cy="1733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Business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four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sub-contractors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maintain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2-</a:t>
            </a:r>
            <a:r>
              <a:rPr dirty="0" sz="1100">
                <a:latin typeface="Calibri"/>
                <a:cs typeface="Calibri"/>
              </a:rPr>
              <a:t>3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week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100" spc="-10">
                <a:latin typeface="Calibri"/>
                <a:cs typeface="Calibri"/>
              </a:rPr>
              <a:t>backlog.</a:t>
            </a:r>
            <a:endParaRPr sz="1100">
              <a:latin typeface="Calibri"/>
              <a:cs typeface="Calibri"/>
            </a:endParaRPr>
          </a:p>
          <a:p>
            <a:pPr marL="12700" marR="9525">
              <a:lnSpc>
                <a:spcPct val="120900"/>
              </a:lnSpc>
              <a:spcBef>
                <a:spcPts val="605"/>
              </a:spcBef>
            </a:pPr>
            <a:r>
              <a:rPr dirty="0" sz="1100">
                <a:latin typeface="Calibri"/>
                <a:cs typeface="Calibri"/>
              </a:rPr>
              <a:t>Has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been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growing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franchise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model,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locations</a:t>
            </a:r>
            <a:r>
              <a:rPr dirty="0" sz="1100" spc="-10">
                <a:latin typeface="Calibri"/>
                <a:cs typeface="Calibri"/>
              </a:rPr>
              <a:t> currently </a:t>
            </a:r>
            <a:r>
              <a:rPr dirty="0" sz="1100">
                <a:latin typeface="Calibri"/>
                <a:cs typeface="Calibri"/>
              </a:rPr>
              <a:t>operating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Texas.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Revenue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breakdown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$6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MM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location,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$2 </a:t>
            </a:r>
            <a:r>
              <a:rPr dirty="0" sz="1100">
                <a:latin typeface="Calibri"/>
                <a:cs typeface="Calibri"/>
              </a:rPr>
              <a:t>MM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$1.5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MM </a:t>
            </a:r>
            <a:r>
              <a:rPr dirty="0" sz="1100" spc="-10">
                <a:latin typeface="Calibri"/>
                <a:cs typeface="Calibri"/>
              </a:rPr>
              <a:t>respectively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franchises.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$9.5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$1.6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17%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79746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852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Repair/Replacement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4115435" cy="1344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  <a:tab pos="2120265" algn="l"/>
                <a:tab pos="23495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Maintenance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000" spc="-50">
                <a:latin typeface="Symbol"/>
                <a:cs typeface="Symbol"/>
              </a:rPr>
              <a:t>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200">
                <a:latin typeface="Calibri"/>
                <a:cs typeface="Calibri"/>
              </a:rPr>
              <a:t>TPO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&amp;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PVC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4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Ownership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three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partners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10">
                <a:latin typeface="Calibri"/>
                <a:cs typeface="Calibri"/>
              </a:rPr>
              <a:t> interested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sale.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6414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Gutterwork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Siding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503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Doors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326885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049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5001895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50/50</a:t>
            </a:r>
            <a:r>
              <a:rPr dirty="0" sz="18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3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1800" spc="-3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Illinois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503420" cy="18408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50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point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25">
                <a:latin typeface="Calibri"/>
                <a:cs typeface="Calibri"/>
              </a:rPr>
              <a:t> 30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>
                <a:latin typeface="Calibri"/>
                <a:cs typeface="Calibri"/>
              </a:rPr>
              <a:t>-40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houses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day.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Peaked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around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$50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annual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before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200">
                <a:latin typeface="Calibri"/>
                <a:cs typeface="Calibri"/>
              </a:rPr>
              <a:t>dropping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associations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settling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$15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annual</a:t>
            </a:r>
            <a:r>
              <a:rPr dirty="0" sz="1200" spc="-10">
                <a:latin typeface="Calibri"/>
                <a:cs typeface="Calibri"/>
              </a:rPr>
              <a:t> model.</a:t>
            </a:r>
            <a:endParaRPr sz="1200">
              <a:latin typeface="Calibri"/>
              <a:cs typeface="Calibri"/>
            </a:endParaRPr>
          </a:p>
          <a:p>
            <a:pPr marL="12700" marR="131445">
              <a:lnSpc>
                <a:spcPct val="120800"/>
              </a:lnSpc>
              <a:spcBef>
                <a:spcPts val="610"/>
              </a:spcBef>
            </a:pP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split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1099s,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fruitful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long-</a:t>
            </a:r>
            <a:r>
              <a:rPr dirty="0" sz="1200">
                <a:latin typeface="Calibri"/>
                <a:cs typeface="Calibri"/>
              </a:rPr>
              <a:t>term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sub- </a:t>
            </a:r>
            <a:r>
              <a:rPr dirty="0" sz="1200">
                <a:latin typeface="Calibri"/>
                <a:cs typeface="Calibri"/>
              </a:rPr>
              <a:t>contract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relationships.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621021"/>
          <a:ext cx="4694555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$15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13.3%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0757" y="5620892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446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978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390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Gutters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Siding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28413"/>
            <a:ext cx="1998980" cy="4705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9235">
              <a:lnSpc>
                <a:spcPct val="1217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Inspection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Maintenance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052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81076" y="5639180"/>
            <a:ext cx="4093845" cy="1368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137160" indent="-228600">
              <a:lnSpc>
                <a:spcPct val="120800"/>
              </a:lnSpc>
              <a:spcBef>
                <a:spcPts val="108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remaining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‘a </a:t>
            </a:r>
            <a:r>
              <a:rPr dirty="0" sz="1200">
                <a:latin typeface="Calibri"/>
                <a:cs typeface="Calibri"/>
              </a:rPr>
              <a:t>few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years’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sale.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61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conversation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regarding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re-investing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company.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3482975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177165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 spc="-20">
                <a:solidFill>
                  <a:srgbClr val="000000"/>
                </a:solidFill>
              </a:rPr>
              <a:t>:</a:t>
            </a:r>
            <a:r>
              <a:rPr dirty="0" sz="1800" spc="-3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Central</a:t>
            </a:r>
            <a:r>
              <a:rPr dirty="0" sz="1800" spc="-35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and</a:t>
            </a:r>
            <a:r>
              <a:rPr dirty="0" sz="1800" spc="-35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South</a:t>
            </a:r>
            <a:r>
              <a:rPr dirty="0" sz="1800" spc="-3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Florida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104257" y="1535937"/>
            <a:ext cx="4235450" cy="2061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169545">
              <a:lnSpc>
                <a:spcPct val="120800"/>
              </a:lnSpc>
              <a:spcBef>
                <a:spcPts val="725"/>
              </a:spcBef>
            </a:pPr>
            <a:r>
              <a:rPr dirty="0" sz="1200">
                <a:latin typeface="Calibri"/>
                <a:cs typeface="Calibri"/>
              </a:rPr>
              <a:t>$350,000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average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$35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backlog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trending </a:t>
            </a:r>
            <a:r>
              <a:rPr dirty="0" sz="1200">
                <a:latin typeface="Calibri"/>
                <a:cs typeface="Calibri"/>
              </a:rPr>
              <a:t>upward.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Largest</a:t>
            </a:r>
            <a:r>
              <a:rPr dirty="0" sz="1200" spc="-10">
                <a:latin typeface="Calibri"/>
                <a:cs typeface="Calibri"/>
              </a:rPr>
              <a:t> completed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$13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MM.</a:t>
            </a:r>
            <a:endParaRPr sz="1200">
              <a:latin typeface="Calibri"/>
              <a:cs typeface="Calibri"/>
            </a:endParaRPr>
          </a:p>
          <a:p>
            <a:pPr marL="12700" marR="132715">
              <a:lnSpc>
                <a:spcPct val="120800"/>
              </a:lnSpc>
              <a:spcBef>
                <a:spcPts val="600"/>
              </a:spcBef>
            </a:pP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ownership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consists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partners,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plans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retire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board.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615"/>
              </a:spcBef>
            </a:pPr>
            <a:r>
              <a:rPr dirty="0" sz="1200">
                <a:latin typeface="Calibri"/>
                <a:cs typeface="Calibri"/>
              </a:rPr>
              <a:t>Capable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10">
                <a:latin typeface="Calibri"/>
                <a:cs typeface="Calibri"/>
              </a:rPr>
              <a:t> construction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projects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integrating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several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different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under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one </a:t>
            </a:r>
            <a:r>
              <a:rPr dirty="0" sz="1200" spc="-10">
                <a:latin typeface="Calibri"/>
                <a:cs typeface="Calibri"/>
              </a:rPr>
              <a:t>umbrella.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3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$35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$7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79746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852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Repair/Replacement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3635375" cy="1420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  <a:tab pos="2120265" algn="l"/>
                <a:tab pos="23495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Maintenance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000" spc="-50">
                <a:latin typeface="Symbol"/>
                <a:cs typeface="Symbol"/>
              </a:rPr>
              <a:t>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200">
                <a:latin typeface="Calibri"/>
                <a:cs typeface="Calibri"/>
              </a:rPr>
              <a:t>Warranty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Bonds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710"/>
              </a:spcBef>
              <a:buSzPct val="83333"/>
              <a:buFont typeface="Symbol"/>
              <a:buChar char=""/>
              <a:tabLst>
                <a:tab pos="240665" algn="l"/>
                <a:tab pos="2120265" algn="l"/>
                <a:tab pos="2349500" algn="l"/>
              </a:tabLst>
            </a:pPr>
            <a:r>
              <a:rPr dirty="0" sz="1200">
                <a:latin typeface="Calibri"/>
                <a:cs typeface="Calibri"/>
              </a:rPr>
              <a:t>120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people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payroll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000" spc="-50">
                <a:latin typeface="Symbol"/>
                <a:cs typeface="Symbol"/>
              </a:rPr>
              <a:t>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2000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00"/>
              </a:spcBef>
              <a:buSzPct val="83333"/>
              <a:buFont typeface="Symbol"/>
              <a:buChar char=""/>
              <a:tabLst>
                <a:tab pos="240665" algn="l"/>
                <a:tab pos="2120265" algn="l"/>
                <a:tab pos="2349500" algn="l"/>
              </a:tabLst>
            </a:pPr>
            <a:r>
              <a:rPr dirty="0" sz="1200">
                <a:latin typeface="Calibri"/>
                <a:cs typeface="Calibri"/>
              </a:rPr>
              <a:t>Large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backlog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000" spc="-50">
                <a:latin typeface="Symbol"/>
                <a:cs typeface="Symbol"/>
              </a:rPr>
              <a:t>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200" spc="-10">
                <a:latin typeface="Calibri"/>
                <a:cs typeface="Calibri"/>
              </a:rPr>
              <a:t>Non-Union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668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Metal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1106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Coatings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326885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754871" y="1002538"/>
            <a:ext cx="7645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55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81076" y="1535937"/>
            <a:ext cx="23399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Unnamed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Roofing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Company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5443220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Storm-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Related</a:t>
            </a:r>
            <a:r>
              <a:rPr dirty="0" sz="1800" spc="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Roofing/Windows/Doors/Siding</a:t>
            </a:r>
            <a:r>
              <a:rPr dirty="0" sz="1800" spc="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 spc="-20">
                <a:solidFill>
                  <a:srgbClr val="000000"/>
                </a:solidFill>
              </a:rPr>
              <a:t>:</a:t>
            </a:r>
            <a:r>
              <a:rPr dirty="0" sz="1800" spc="5">
                <a:solidFill>
                  <a:srgbClr val="000000"/>
                </a:solidFill>
              </a:rPr>
              <a:t> </a:t>
            </a:r>
            <a:r>
              <a:rPr dirty="0" sz="1800" spc="-20">
                <a:solidFill>
                  <a:srgbClr val="000000"/>
                </a:solidFill>
              </a:rPr>
              <a:t>Texas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104257" y="1535937"/>
            <a:ext cx="4190365" cy="770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20900"/>
              </a:lnSpc>
              <a:spcBef>
                <a:spcPts val="750"/>
              </a:spcBef>
            </a:pPr>
            <a:r>
              <a:rPr dirty="0" sz="1100">
                <a:latin typeface="Calibri"/>
                <a:cs typeface="Calibri"/>
              </a:rPr>
              <a:t>Purchased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founder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years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ago.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New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ownership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focused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growing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roofing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section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company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going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forward.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$8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$1.3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16.25%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79746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852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Repair/Replacement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1397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Maintenance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6414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Gutterwork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Siding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503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Doors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92648"/>
            <a:ext cx="838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326885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056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076" y="5620892"/>
            <a:ext cx="4051300" cy="89026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4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Ownership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partners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staying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sale.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33871" y="2456688"/>
            <a:ext cx="2918714" cy="1440941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6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5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&amp;</a:t>
            </a:r>
            <a:r>
              <a:rPr dirty="0" sz="18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5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 spc="-20">
                <a:solidFill>
                  <a:srgbClr val="000000"/>
                </a:solidFill>
              </a:rPr>
              <a:t>:</a:t>
            </a:r>
            <a:r>
              <a:rPr dirty="0" sz="1800" spc="5">
                <a:solidFill>
                  <a:srgbClr val="000000"/>
                </a:solidFill>
              </a:rPr>
              <a:t> </a:t>
            </a:r>
            <a:r>
              <a:rPr dirty="0" sz="1800" spc="-20">
                <a:solidFill>
                  <a:srgbClr val="000000"/>
                </a:solidFill>
              </a:rPr>
              <a:t>Texas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104257" y="1535937"/>
            <a:ext cx="1722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104257" y="2188210"/>
            <a:ext cx="101473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Founded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2009.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104257" y="2433040"/>
            <a:ext cx="4135120" cy="9124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4925">
              <a:lnSpc>
                <a:spcPct val="1209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Owner,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acquired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company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February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2023,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believes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$20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MM </a:t>
            </a:r>
            <a:r>
              <a:rPr dirty="0" sz="1100">
                <a:latin typeface="Calibri"/>
                <a:cs typeface="Calibri"/>
              </a:rPr>
              <a:t>total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revenue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attainable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goal 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2024.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20900"/>
              </a:lnSpc>
              <a:spcBef>
                <a:spcPts val="600"/>
              </a:spcBef>
            </a:pPr>
            <a:r>
              <a:rPr dirty="0" sz="1100">
                <a:latin typeface="Calibri"/>
                <a:cs typeface="Calibri"/>
              </a:rPr>
              <a:t>Small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portion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revenue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siding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gutter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sub-</a:t>
            </a:r>
            <a:r>
              <a:rPr dirty="0" sz="1100" spc="-10">
                <a:latin typeface="Calibri"/>
                <a:cs typeface="Calibri"/>
              </a:rPr>
              <a:t>contracted non-</a:t>
            </a:r>
            <a:r>
              <a:rPr dirty="0" sz="1100">
                <a:latin typeface="Calibri"/>
                <a:cs typeface="Calibri"/>
              </a:rPr>
              <a:t>union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work.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$10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5079746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65%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60%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40%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 descr=""/>
          <p:cNvSpPr txBox="1"/>
          <p:nvPr/>
        </p:nvSpPr>
        <p:spPr>
          <a:xfrm>
            <a:off x="481076" y="4570857"/>
            <a:ext cx="1852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Repair/Replacement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1076" y="4868036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1076" y="5166741"/>
            <a:ext cx="4013835" cy="1642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  <a:tab pos="2120265" algn="l"/>
                <a:tab pos="23495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Maintenance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000" spc="-50">
                <a:latin typeface="Symbol"/>
                <a:cs typeface="Symbol"/>
              </a:rPr>
              <a:t>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200">
                <a:latin typeface="Calibri"/>
                <a:cs typeface="Calibri"/>
              </a:rPr>
              <a:t>TPO,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Bitumen,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Metal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4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acquired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2023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veteran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MBA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Harvard.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1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management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sale.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4570857"/>
            <a:ext cx="16414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Gutterwork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Siding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589022" y="4868036"/>
            <a:ext cx="11106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Coatings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326885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060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3505200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 spc="-20">
                <a:solidFill>
                  <a:srgbClr val="000000"/>
                </a:solidFill>
              </a:rPr>
              <a:t>:</a:t>
            </a:r>
            <a:r>
              <a:rPr dirty="0" sz="1800" spc="-25">
                <a:solidFill>
                  <a:srgbClr val="000000"/>
                </a:solidFill>
              </a:rPr>
              <a:t> </a:t>
            </a:r>
            <a:r>
              <a:rPr dirty="0" sz="1800" spc="-20">
                <a:solidFill>
                  <a:srgbClr val="000000"/>
                </a:solidFill>
              </a:rPr>
              <a:t>Vermont</a:t>
            </a:r>
            <a:r>
              <a:rPr dirty="0" sz="1800" spc="-25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&amp;</a:t>
            </a:r>
            <a:r>
              <a:rPr dirty="0" sz="1800" spc="-30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New</a:t>
            </a:r>
            <a:r>
              <a:rPr dirty="0" sz="1800" spc="-20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Hampshire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104257" y="1535937"/>
            <a:ext cx="3886835" cy="16071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Founded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2003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owner.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20900"/>
              </a:lnSpc>
              <a:spcBef>
                <a:spcPts val="605"/>
              </a:spcBef>
            </a:pPr>
            <a:r>
              <a:rPr dirty="0" sz="1100">
                <a:latin typeface="Calibri"/>
                <a:cs typeface="Calibri"/>
              </a:rPr>
              <a:t>Currently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100%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revenues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directly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roofing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projects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and </a:t>
            </a:r>
            <a:r>
              <a:rPr dirty="0" sz="1100">
                <a:latin typeface="Calibri"/>
                <a:cs typeface="Calibri"/>
              </a:rPr>
              <a:t>related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gutter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work.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100">
                <a:latin typeface="Calibri"/>
                <a:cs typeface="Calibri"/>
              </a:rPr>
              <a:t>Owner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also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operates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restoration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business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locally.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$6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$0.6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79746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852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Repair/Replacement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4079875" cy="1642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  <a:tab pos="2120265" algn="l"/>
                <a:tab pos="23495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Maintenance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000" spc="-50">
                <a:latin typeface="Symbol"/>
                <a:cs typeface="Symbol"/>
              </a:rPr>
              <a:t>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200">
                <a:latin typeface="Calibri"/>
                <a:cs typeface="Calibri"/>
              </a:rPr>
              <a:t>Emergency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Remediation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4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guide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through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period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acquisition.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1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investing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larger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entity.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968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Gutterwork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1106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Coatings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326885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061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84836"/>
            <a:ext cx="34829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18008" y="519430"/>
            <a:ext cx="3788410" cy="73596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800" b="1">
                <a:latin typeface="Calibri"/>
                <a:cs typeface="Calibri"/>
              </a:rPr>
              <a:t>Residential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Re-</a:t>
            </a:r>
            <a:r>
              <a:rPr dirty="0" sz="1800" b="1">
                <a:latin typeface="Calibri"/>
                <a:cs typeface="Calibri"/>
              </a:rPr>
              <a:t>Roofing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Company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800" spc="-20" b="1">
                <a:latin typeface="Calibri"/>
                <a:cs typeface="Calibri"/>
              </a:rPr>
              <a:t>Territory</a:t>
            </a:r>
            <a:r>
              <a:rPr dirty="0" sz="1800" spc="-20">
                <a:latin typeface="Calibri"/>
                <a:cs typeface="Calibri"/>
              </a:rPr>
              <a:t>: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Mid-Atlantic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(MD,PA,NJ,DE,VA)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3101467" y="1535937"/>
            <a:ext cx="6148705" cy="1024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725"/>
              </a:spcBef>
            </a:pPr>
            <a:r>
              <a:rPr dirty="0" sz="1200">
                <a:latin typeface="Calibri"/>
                <a:cs typeface="Calibri"/>
              </a:rPr>
              <a:t>Almost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entirely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storm-</a:t>
            </a:r>
            <a:r>
              <a:rPr dirty="0" sz="1200">
                <a:latin typeface="Calibri"/>
                <a:cs typeface="Calibri"/>
              </a:rPr>
              <a:t>related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re-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$15,000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average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1-2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day </a:t>
            </a:r>
            <a:r>
              <a:rPr dirty="0" sz="1200" spc="-10">
                <a:latin typeface="Calibri"/>
                <a:cs typeface="Calibri"/>
              </a:rPr>
              <a:t>completion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4,000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jobs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Majority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customers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acquired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“Door- </a:t>
            </a:r>
            <a:r>
              <a:rPr dirty="0" sz="1200">
                <a:latin typeface="Calibri"/>
                <a:cs typeface="Calibri"/>
              </a:rPr>
              <a:t>Knocking”.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30%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year.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101467" y="2648839"/>
            <a:ext cx="58610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2015,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founding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looking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grows.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5079746" y="4616703"/>
          <a:ext cx="4862830" cy="2361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6355"/>
                <a:gridCol w="1154430"/>
                <a:gridCol w="1154430"/>
                <a:gridCol w="1146810"/>
              </a:tblGrid>
              <a:tr h="4686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19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50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$25.6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50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$3.3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50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12.8%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50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50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$33.9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50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$2.8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50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8.3%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50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474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57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$38.8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57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$2.3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57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400" spc="-20">
                          <a:latin typeface="Calibri"/>
                          <a:cs typeface="Calibri"/>
                        </a:rPr>
                        <a:t>6.0%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57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467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YTD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Nov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25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$53.7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25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dirty="0" sz="1400">
                          <a:latin typeface="Calibri"/>
                          <a:cs typeface="Calibri"/>
                        </a:rPr>
                        <a:t>$6.3</a:t>
                      </a:r>
                      <a:r>
                        <a:rPr dirty="0"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25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11.8%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25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457212" y="5639815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 descr=""/>
          <p:cNvSpPr txBox="1"/>
          <p:nvPr/>
        </p:nvSpPr>
        <p:spPr>
          <a:xfrm>
            <a:off x="481076" y="4570857"/>
            <a:ext cx="978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1076" y="4868036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1076" y="5166741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4570857"/>
            <a:ext cx="1477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Siding</a:t>
            </a:r>
            <a:r>
              <a:rPr dirty="0" sz="1200" spc="-10">
                <a:latin typeface="Calibri"/>
                <a:cs typeface="Calibri"/>
              </a:rPr>
              <a:t> 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589022" y="4868036"/>
            <a:ext cx="15055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Gutter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589022" y="5166741"/>
            <a:ext cx="1222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Inspection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104257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063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101467" y="3002407"/>
            <a:ext cx="17468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4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Partners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Ownership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101467" y="3299586"/>
            <a:ext cx="3834129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Founder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looking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invest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company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1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Cash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Accrual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Discussion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underway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2331720" cy="1598676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567944" y="2333980"/>
            <a:ext cx="2106295" cy="801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21100"/>
              </a:lnSpc>
              <a:spcBef>
                <a:spcPts val="105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 profile,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Kevin 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68834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8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9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0"/>
                </a:solidFill>
              </a:rPr>
              <a:t>North</a:t>
            </a:r>
            <a:r>
              <a:rPr dirty="0" sz="1800" spc="-1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Carolina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494530" cy="19170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2017.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partners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ownership,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interested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not.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performed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W2,</a:t>
            </a:r>
            <a:r>
              <a:rPr dirty="0" sz="1200" spc="-10">
                <a:latin typeface="Calibri"/>
                <a:cs typeface="Calibri"/>
              </a:rPr>
              <a:t> non-</a:t>
            </a:r>
            <a:r>
              <a:rPr dirty="0" sz="1200">
                <a:latin typeface="Calibri"/>
                <a:cs typeface="Calibri"/>
              </a:rPr>
              <a:t>union </a:t>
            </a:r>
            <a:r>
              <a:rPr dirty="0" sz="1200" spc="-10">
                <a:latin typeface="Calibri"/>
                <a:cs typeface="Calibri"/>
              </a:rPr>
              <a:t>sub-contractors.</a:t>
            </a:r>
            <a:endParaRPr sz="1200">
              <a:latin typeface="Calibri"/>
              <a:cs typeface="Calibri"/>
            </a:endParaRPr>
          </a:p>
          <a:p>
            <a:pPr marL="12700" marR="187960">
              <a:lnSpc>
                <a:spcPct val="120800"/>
              </a:lnSpc>
              <a:spcBef>
                <a:spcPts val="610"/>
              </a:spcBef>
            </a:pP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comprising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approximately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20%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annual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revenues.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621021"/>
          <a:ext cx="4694555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$7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$0.7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0757" y="5620892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446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978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4084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Doors,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Gutterwork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3868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Storm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Restoration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66741"/>
            <a:ext cx="12985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Insurance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Claims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065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076" y="5639180"/>
            <a:ext cx="3870325" cy="1368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08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future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growth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company.</a:t>
            </a:r>
            <a:endParaRPr sz="1200">
              <a:latin typeface="Calibri"/>
              <a:cs typeface="Calibri"/>
            </a:endParaRPr>
          </a:p>
          <a:p>
            <a:pPr marL="241300" marR="201930" indent="-228600">
              <a:lnSpc>
                <a:spcPct val="120800"/>
              </a:lnSpc>
              <a:spcBef>
                <a:spcPts val="61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focusing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marketing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does</a:t>
            </a:r>
            <a:r>
              <a:rPr dirty="0" sz="1200" spc="-25">
                <a:latin typeface="Calibri"/>
                <a:cs typeface="Calibri"/>
              </a:rPr>
              <a:t> not </a:t>
            </a:r>
            <a:r>
              <a:rPr dirty="0" sz="1200">
                <a:latin typeface="Calibri"/>
                <a:cs typeface="Calibri"/>
              </a:rPr>
              <a:t>necessarily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day-</a:t>
            </a:r>
            <a:r>
              <a:rPr dirty="0" sz="1200" spc="-10">
                <a:latin typeface="Calibri"/>
                <a:cs typeface="Calibri"/>
              </a:rPr>
              <a:t>to-</a:t>
            </a:r>
            <a:r>
              <a:rPr dirty="0" sz="1200" spc="-20">
                <a:latin typeface="Calibri"/>
                <a:cs typeface="Calibri"/>
              </a:rPr>
              <a:t>day.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37719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000000"/>
                </a:solidFill>
              </a:rPr>
              <a:t>Texas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370705" cy="1696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2013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owner.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200">
                <a:latin typeface="Calibri"/>
                <a:cs typeface="Calibri"/>
              </a:rPr>
              <a:t>Revenues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rate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30+%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year-</a:t>
            </a:r>
            <a:r>
              <a:rPr dirty="0" sz="1200" spc="-10">
                <a:latin typeface="Calibri"/>
                <a:cs typeface="Calibri"/>
              </a:rPr>
              <a:t>over-year.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21700"/>
              </a:lnSpc>
              <a:spcBef>
                <a:spcPts val="585"/>
              </a:spcBef>
            </a:pPr>
            <a:r>
              <a:rPr dirty="0" sz="1200">
                <a:latin typeface="Calibri"/>
                <a:cs typeface="Calibri"/>
              </a:rPr>
              <a:t>Currently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force.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shop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could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easily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be </a:t>
            </a:r>
            <a:r>
              <a:rPr dirty="0" sz="1200">
                <a:latin typeface="Calibri"/>
                <a:cs typeface="Calibri"/>
              </a:rPr>
              <a:t>plugged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larger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platform.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621021"/>
          <a:ext cx="4694555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$11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$1.6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14.5%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0757" y="5620892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446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6273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Siding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968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Gutterwork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731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Radiant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Barrier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66741"/>
            <a:ext cx="13868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Storm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Restoration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066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076" y="5639180"/>
            <a:ext cx="3893185" cy="1147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08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holding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equity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larger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after acquisition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1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contributing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growth.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3482975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17526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spc="-3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Pennsylvania,</a:t>
            </a:r>
            <a:r>
              <a:rPr dirty="0" sz="1800" spc="-30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New</a:t>
            </a:r>
            <a:r>
              <a:rPr dirty="0" sz="1800" spc="-3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Jersey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478655" cy="19932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2012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owner.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200">
                <a:latin typeface="Calibri"/>
                <a:cs typeface="Calibri"/>
              </a:rPr>
              <a:t>Owens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Corning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Platinum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Preferred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Contractor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21700"/>
              </a:lnSpc>
              <a:spcBef>
                <a:spcPts val="585"/>
              </a:spcBef>
            </a:pPr>
            <a:r>
              <a:rPr dirty="0" sz="1200">
                <a:latin typeface="Calibri"/>
                <a:cs typeface="Calibri"/>
              </a:rPr>
              <a:t>Most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split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18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non-</a:t>
            </a:r>
            <a:r>
              <a:rPr dirty="0" sz="1200">
                <a:latin typeface="Calibri"/>
                <a:cs typeface="Calibri"/>
              </a:rPr>
              <a:t>union </a:t>
            </a:r>
            <a:r>
              <a:rPr dirty="0" sz="1200" spc="-10">
                <a:latin typeface="Calibri"/>
                <a:cs typeface="Calibri"/>
              </a:rPr>
              <a:t>employees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4 </a:t>
            </a:r>
            <a:r>
              <a:rPr dirty="0" sz="1200" spc="-10">
                <a:latin typeface="Calibri"/>
                <a:cs typeface="Calibri"/>
              </a:rPr>
              <a:t>sub-contractor crews.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>
                <a:latin typeface="Calibri"/>
                <a:cs typeface="Calibri"/>
              </a:rPr>
              <a:t>2022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average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job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~$36,000.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621021"/>
          <a:ext cx="4694555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$11.5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$2.3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0757" y="5620892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446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6273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Siding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968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Gutterwork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28413"/>
            <a:ext cx="1859280" cy="4705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9235">
              <a:lnSpc>
                <a:spcPct val="1217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Specialty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Roofing—Metal, </a:t>
            </a:r>
            <a:r>
              <a:rPr dirty="0" sz="1200">
                <a:latin typeface="Calibri"/>
                <a:cs typeface="Calibri"/>
              </a:rPr>
              <a:t>Slate,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Copper,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Cedar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068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81076" y="5639180"/>
            <a:ext cx="3943985" cy="8489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08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flexible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if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needed.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4700270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 spc="-20">
                <a:solidFill>
                  <a:srgbClr val="000000"/>
                </a:solidFill>
              </a:rPr>
              <a:t>:</a:t>
            </a:r>
            <a:r>
              <a:rPr dirty="0" sz="1800" spc="5">
                <a:solidFill>
                  <a:srgbClr val="000000"/>
                </a:solidFill>
              </a:rPr>
              <a:t> </a:t>
            </a:r>
            <a:r>
              <a:rPr dirty="0" sz="1800" spc="-20">
                <a:solidFill>
                  <a:srgbClr val="000000"/>
                </a:solidFill>
              </a:rPr>
              <a:t>Ohio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508500" cy="2061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725"/>
              </a:spcBef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1998,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staff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27-</a:t>
            </a:r>
            <a:r>
              <a:rPr dirty="0" sz="1200" spc="-25">
                <a:latin typeface="Calibri"/>
                <a:cs typeface="Calibri"/>
              </a:rPr>
              <a:t>30 </a:t>
            </a:r>
            <a:r>
              <a:rPr dirty="0" sz="1200" spc="-10">
                <a:latin typeface="Calibri"/>
                <a:cs typeface="Calibri"/>
              </a:rPr>
              <a:t>non-</a:t>
            </a:r>
            <a:r>
              <a:rPr dirty="0" sz="1200">
                <a:latin typeface="Calibri"/>
                <a:cs typeface="Calibri"/>
              </a:rPr>
              <a:t>union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employees.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remains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continuing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sale.</a:t>
            </a:r>
            <a:endParaRPr sz="1200">
              <a:latin typeface="Calibri"/>
              <a:cs typeface="Calibri"/>
            </a:endParaRPr>
          </a:p>
          <a:p>
            <a:pPr marL="12700" marR="46990">
              <a:lnSpc>
                <a:spcPct val="121700"/>
              </a:lnSpc>
              <a:spcBef>
                <a:spcPts val="590"/>
              </a:spcBef>
            </a:pPr>
            <a:r>
              <a:rPr dirty="0" sz="1200">
                <a:latin typeface="Calibri"/>
                <a:cs typeface="Calibri"/>
              </a:rPr>
              <a:t>Revenues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relatively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steady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$6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2015 -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2021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$8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$11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2023.</a:t>
            </a:r>
            <a:endParaRPr sz="1200">
              <a:latin typeface="Calibri"/>
              <a:cs typeface="Calibri"/>
            </a:endParaRPr>
          </a:p>
          <a:p>
            <a:pPr marL="12700" marR="95250">
              <a:lnSpc>
                <a:spcPct val="120800"/>
              </a:lnSpc>
              <a:spcBef>
                <a:spcPts val="600"/>
              </a:spcBef>
            </a:pPr>
            <a:r>
              <a:rPr dirty="0" sz="1200" spc="-10">
                <a:latin typeface="Calibri"/>
                <a:cs typeface="Calibri"/>
              </a:rPr>
              <a:t>Approximately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15%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siding,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windows, </a:t>
            </a:r>
            <a:r>
              <a:rPr dirty="0" sz="1200">
                <a:latin typeface="Calibri"/>
                <a:cs typeface="Calibri"/>
              </a:rPr>
              <a:t>doors,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skylights,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chimneys.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$11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18.2%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4947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65%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7308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6273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Siding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4009390" cy="1420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Gutters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71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future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growth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Ultimately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7956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Skylights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8578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Chimneys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073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1800" spc="-5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Colorado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484370" cy="1696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1985,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second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ownership.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200">
                <a:latin typeface="Calibri"/>
                <a:cs typeface="Calibri"/>
              </a:rPr>
              <a:t>Revenue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steadily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three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—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$7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2021,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>
                <a:latin typeface="Calibri"/>
                <a:cs typeface="Calibri"/>
              </a:rPr>
              <a:t>$8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$11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2023.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1200">
                <a:latin typeface="Calibri"/>
                <a:cs typeface="Calibri"/>
              </a:rPr>
              <a:t>Majority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sub-</a:t>
            </a:r>
            <a:r>
              <a:rPr dirty="0" sz="1200">
                <a:latin typeface="Calibri"/>
                <a:cs typeface="Calibri"/>
              </a:rPr>
              <a:t>contracted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small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in-</a:t>
            </a:r>
            <a:r>
              <a:rPr dirty="0" sz="1200">
                <a:latin typeface="Calibri"/>
                <a:cs typeface="Calibri"/>
              </a:rPr>
              <a:t>house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crew.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621021"/>
          <a:ext cx="4694555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$11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18.2%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0757" y="5620892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52%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48%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446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6273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Siding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968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Gutterwork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958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Inspections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66741"/>
            <a:ext cx="10769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Solar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074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076" y="5639180"/>
            <a:ext cx="4023995" cy="8489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08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2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transition,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willing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3-</a:t>
            </a:r>
            <a:r>
              <a:rPr dirty="0" sz="1200">
                <a:latin typeface="Calibri"/>
                <a:cs typeface="Calibri"/>
              </a:rPr>
              <a:t>5</a:t>
            </a:r>
            <a:r>
              <a:rPr dirty="0" sz="1200" spc="-10">
                <a:latin typeface="Calibri"/>
                <a:cs typeface="Calibri"/>
              </a:rPr>
              <a:t> years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29845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>
                <a:solidFill>
                  <a:srgbClr val="000000"/>
                </a:solidFill>
              </a:rPr>
              <a:t>:</a:t>
            </a:r>
            <a:r>
              <a:rPr dirty="0" sz="1800" spc="215">
                <a:solidFill>
                  <a:srgbClr val="000000"/>
                </a:solidFill>
              </a:rPr>
              <a:t> </a:t>
            </a:r>
            <a:r>
              <a:rPr dirty="0" sz="1800" spc="-25">
                <a:solidFill>
                  <a:srgbClr val="000000"/>
                </a:solidFill>
              </a:rPr>
              <a:t>TX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2691510"/>
            <a:ext cx="13919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Non-</a:t>
            </a:r>
            <a:r>
              <a:rPr dirty="0" sz="1200">
                <a:latin typeface="Calibri"/>
                <a:cs typeface="Calibri"/>
              </a:rPr>
              <a:t>union </a:t>
            </a:r>
            <a:r>
              <a:rPr dirty="0" sz="1200" spc="-10">
                <a:latin typeface="Calibri"/>
                <a:cs typeface="Calibri"/>
              </a:rPr>
              <a:t>workforce.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06721" y="1502410"/>
            <a:ext cx="4322445" cy="1696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725"/>
              </a:spcBef>
            </a:pP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2012,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owner/founder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been in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over </a:t>
            </a:r>
            <a:r>
              <a:rPr dirty="0" sz="1200">
                <a:latin typeface="Calibri"/>
                <a:cs typeface="Calibri"/>
              </a:rPr>
              <a:t>40</a:t>
            </a:r>
            <a:r>
              <a:rPr dirty="0" sz="1200" spc="-10">
                <a:latin typeface="Calibri"/>
                <a:cs typeface="Calibri"/>
              </a:rPr>
              <a:t> years.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average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job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falls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somewhere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$40k-</a:t>
            </a:r>
            <a:r>
              <a:rPr dirty="0" sz="1200">
                <a:latin typeface="Calibri"/>
                <a:cs typeface="Calibri"/>
              </a:rPr>
              <a:t>$50k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range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roofing—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siding,</a:t>
            </a:r>
            <a:r>
              <a:rPr dirty="0" sz="1200" spc="-10">
                <a:latin typeface="Calibri"/>
                <a:cs typeface="Calibri"/>
              </a:rPr>
              <a:t> windows, </a:t>
            </a:r>
            <a:r>
              <a:rPr dirty="0" sz="1200" spc="-20">
                <a:latin typeface="Calibri"/>
                <a:cs typeface="Calibri"/>
              </a:rPr>
              <a:t>etc.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4982845" y="4464177"/>
          <a:ext cx="4694555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$1.5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$.3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5044947" y="5697601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481076" y="4570857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4868036"/>
            <a:ext cx="978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1076" y="5166741"/>
            <a:ext cx="11296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Metal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570857"/>
            <a:ext cx="15995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Stone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Coated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4868036"/>
            <a:ext cx="165671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Copper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Standing</a:t>
            </a:r>
            <a:r>
              <a:rPr dirty="0" sz="1200" spc="-20">
                <a:latin typeface="Calibri"/>
                <a:cs typeface="Calibri"/>
              </a:rPr>
              <a:t> Seam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589022" y="5166741"/>
            <a:ext cx="9131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Galvalume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006721" y="4112133"/>
            <a:ext cx="12598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libri"/>
                <a:cs typeface="Calibri"/>
              </a:rPr>
              <a:t>Total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Revenues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075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81076" y="5668136"/>
            <a:ext cx="4049395" cy="1129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94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owner/founder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intends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retire,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flexible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 </a:t>
            </a:r>
            <a:r>
              <a:rPr dirty="0" sz="1200">
                <a:latin typeface="Calibri"/>
                <a:cs typeface="Calibri"/>
              </a:rPr>
              <a:t>timing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exit.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1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asking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$1.0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plus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$1.2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estate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84836"/>
            <a:ext cx="34829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18008" y="519430"/>
            <a:ext cx="5430520" cy="73596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800" b="1">
                <a:latin typeface="Calibri"/>
                <a:cs typeface="Calibri"/>
              </a:rPr>
              <a:t>Commercial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Re-</a:t>
            </a:r>
            <a:r>
              <a:rPr dirty="0" sz="1800" b="1">
                <a:latin typeface="Calibri"/>
                <a:cs typeface="Calibri"/>
              </a:rPr>
              <a:t>Roofing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Company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800" b="1">
                <a:latin typeface="Calibri"/>
                <a:cs typeface="Calibri"/>
              </a:rPr>
              <a:t>Territory</a:t>
            </a:r>
            <a:r>
              <a:rPr dirty="0" sz="1800">
                <a:latin typeface="Calibri"/>
                <a:cs typeface="Calibri"/>
              </a:rPr>
              <a:t>:</a:t>
            </a:r>
            <a:r>
              <a:rPr dirty="0" sz="1800" spc="21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TX,OK,LA,SC,NC,GA,KY,WI,IL,TN,OH,MD,PA,NJ,FL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006721" y="1502410"/>
            <a:ext cx="1722120" cy="581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2015.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006721" y="2135250"/>
            <a:ext cx="4471670" cy="467359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200" spc="-10">
                <a:latin typeface="Calibri"/>
                <a:cs typeface="Calibri"/>
              </a:rPr>
              <a:t>Following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addition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sales-</a:t>
            </a:r>
            <a:r>
              <a:rPr dirty="0" sz="1200">
                <a:latin typeface="Calibri"/>
                <a:cs typeface="Calibri"/>
              </a:rPr>
              <a:t>oriented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partner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2019,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company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$400k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$5.5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four</a:t>
            </a:r>
            <a:r>
              <a:rPr dirty="0" sz="1200" spc="-10">
                <a:latin typeface="Calibri"/>
                <a:cs typeface="Calibri"/>
              </a:rPr>
              <a:t> years.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06721" y="2651886"/>
            <a:ext cx="4355465" cy="4705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17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20%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self-</a:t>
            </a:r>
            <a:r>
              <a:rPr dirty="0" sz="1200">
                <a:latin typeface="Calibri"/>
                <a:cs typeface="Calibri"/>
              </a:rPr>
              <a:t>performed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planned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eliminated,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down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0%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2024.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006721" y="3211195"/>
            <a:ext cx="38030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permitted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15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states,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non-union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workforce.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4982845" y="4464177"/>
          <a:ext cx="4694555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$5.5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18%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object 13" descr=""/>
          <p:cNvGraphicFramePr>
            <a:graphicFrameLocks noGrp="1"/>
          </p:cNvGraphicFramePr>
          <p:nvPr/>
        </p:nvGraphicFramePr>
        <p:xfrm>
          <a:off x="5044947" y="5697601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98%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4" name="object 14" descr=""/>
          <p:cNvSpPr txBox="1"/>
          <p:nvPr/>
        </p:nvSpPr>
        <p:spPr>
          <a:xfrm>
            <a:off x="481076" y="4570857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81076" y="4868036"/>
            <a:ext cx="978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81076" y="5166741"/>
            <a:ext cx="11296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Metal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589022" y="4570857"/>
            <a:ext cx="1630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Single-</a:t>
            </a:r>
            <a:r>
              <a:rPr dirty="0" sz="1200">
                <a:latin typeface="Calibri"/>
                <a:cs typeface="Calibri"/>
              </a:rPr>
              <a:t>ply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Commercial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589022" y="4868036"/>
            <a:ext cx="1981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Acrylic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Silicone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589022" y="5166741"/>
            <a:ext cx="1130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Metal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006721" y="4112133"/>
            <a:ext cx="12598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libri"/>
                <a:cs typeface="Calibri"/>
              </a:rPr>
              <a:t>Total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Revenues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076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81076" y="5668136"/>
            <a:ext cx="4138295" cy="1350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1200"/>
              </a:lnSpc>
              <a:spcBef>
                <a:spcPts val="93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board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period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post-</a:t>
            </a:r>
            <a:r>
              <a:rPr dirty="0" sz="1200">
                <a:latin typeface="Calibri"/>
                <a:cs typeface="Calibri"/>
              </a:rPr>
              <a:t>sale.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50/50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contractor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remain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company.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Plan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Residential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New-</a:t>
            </a:r>
            <a:r>
              <a:rPr dirty="0" sz="1200">
                <a:latin typeface="Calibri"/>
                <a:cs typeface="Calibri"/>
              </a:rPr>
              <a:t>Build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department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2024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234315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>
                <a:solidFill>
                  <a:srgbClr val="000000"/>
                </a:solidFill>
              </a:rPr>
              <a:t>:</a:t>
            </a:r>
            <a:r>
              <a:rPr dirty="0" sz="1800" spc="27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Oregon</a:t>
            </a:r>
            <a:r>
              <a:rPr dirty="0" sz="1800" spc="-70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and</a:t>
            </a:r>
            <a:r>
              <a:rPr dirty="0" sz="1800" spc="-70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Washington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493260" cy="22142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725"/>
              </a:spcBef>
            </a:pP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2004,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ownership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second-</a:t>
            </a:r>
            <a:r>
              <a:rPr dirty="0" sz="1200">
                <a:latin typeface="Calibri"/>
                <a:cs typeface="Calibri"/>
              </a:rPr>
              <a:t>generation,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still </a:t>
            </a:r>
            <a:r>
              <a:rPr dirty="0" sz="1200">
                <a:latin typeface="Calibri"/>
                <a:cs typeface="Calibri"/>
              </a:rPr>
              <a:t>in </a:t>
            </a:r>
            <a:r>
              <a:rPr dirty="0" sz="1200" spc="-10">
                <a:latin typeface="Calibri"/>
                <a:cs typeface="Calibri"/>
              </a:rPr>
              <a:t>family.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>
                <a:latin typeface="Calibri"/>
                <a:cs typeface="Calibri"/>
              </a:rPr>
              <a:t>$1.5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department,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available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well.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self-</a:t>
            </a:r>
            <a:r>
              <a:rPr dirty="0" sz="1200">
                <a:latin typeface="Calibri"/>
                <a:cs typeface="Calibri"/>
              </a:rPr>
              <a:t>performed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Union</a:t>
            </a:r>
            <a:r>
              <a:rPr dirty="0" sz="1200" spc="-10">
                <a:latin typeface="Calibri"/>
                <a:cs typeface="Calibri"/>
              </a:rPr>
              <a:t> crews.</a:t>
            </a:r>
            <a:endParaRPr sz="1200">
              <a:latin typeface="Calibri"/>
              <a:cs typeface="Calibri"/>
            </a:endParaRPr>
          </a:p>
          <a:p>
            <a:pPr marL="12700" marR="999490">
              <a:lnSpc>
                <a:spcPct val="162500"/>
              </a:lnSpc>
            </a:pPr>
            <a:r>
              <a:rPr dirty="0" sz="1200">
                <a:latin typeface="Calibri"/>
                <a:cs typeface="Calibri"/>
              </a:rPr>
              <a:t>10%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waterproofing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jobs. 40-</a:t>
            </a:r>
            <a:r>
              <a:rPr dirty="0" sz="1200">
                <a:latin typeface="Calibri"/>
                <a:cs typeface="Calibri"/>
              </a:rPr>
              <a:t>50%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relationships.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464177"/>
          <a:ext cx="4694555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$21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$2.5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12%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4947" y="5697601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98%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87896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28413"/>
            <a:ext cx="1886585" cy="4705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217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Modified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Bitumen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 systems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314385"/>
            <a:ext cx="4097020" cy="1704339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7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Building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Upgrades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292735" indent="-228600">
              <a:lnSpc>
                <a:spcPct val="120800"/>
              </a:lnSpc>
              <a:spcBef>
                <a:spcPts val="94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retire,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ease </a:t>
            </a:r>
            <a:r>
              <a:rPr dirty="0" sz="1200">
                <a:latin typeface="Calibri"/>
                <a:cs typeface="Calibri"/>
              </a:rPr>
              <a:t>transition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post-</a:t>
            </a:r>
            <a:r>
              <a:rPr dirty="0" sz="1200" spc="-20">
                <a:latin typeface="Calibri"/>
                <a:cs typeface="Calibri"/>
              </a:rPr>
              <a:t>sale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6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Revenues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$8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$21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four </a:t>
            </a:r>
            <a:r>
              <a:rPr dirty="0" sz="1200" spc="-10">
                <a:latin typeface="Calibri"/>
                <a:cs typeface="Calibri"/>
              </a:rPr>
              <a:t>years.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32757"/>
            <a:ext cx="134112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9235">
              <a:lnSpc>
                <a:spcPct val="1208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Maintenance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Prevention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5090541"/>
            <a:ext cx="1743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Repair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Emergencies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006721" y="4112133"/>
            <a:ext cx="12598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libri"/>
                <a:cs typeface="Calibri"/>
              </a:rPr>
              <a:t>Total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Revenues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077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Roofer</a:t>
            </a:r>
            <a:r>
              <a:rPr dirty="0" sz="18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18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Home</a:t>
            </a:r>
            <a:r>
              <a:rPr dirty="0" sz="18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Builder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>
                <a:solidFill>
                  <a:srgbClr val="000000"/>
                </a:solidFill>
              </a:rPr>
              <a:t>:</a:t>
            </a:r>
            <a:r>
              <a:rPr dirty="0" sz="1800" spc="265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North</a:t>
            </a:r>
            <a:r>
              <a:rPr dirty="0" sz="1800" spc="-7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Carolina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154804" cy="18408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algn="just" marL="12700" marR="5080">
              <a:lnSpc>
                <a:spcPct val="120800"/>
              </a:lnSpc>
              <a:spcBef>
                <a:spcPts val="725"/>
              </a:spcBef>
            </a:pP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brings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$10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Residential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Re-Roofing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 </a:t>
            </a:r>
            <a:r>
              <a:rPr dirty="0" sz="1200">
                <a:latin typeface="Calibri"/>
                <a:cs typeface="Calibri"/>
              </a:rPr>
              <a:t>additional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$20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MM+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home-</a:t>
            </a:r>
            <a:r>
              <a:rPr dirty="0" sz="1200">
                <a:latin typeface="Calibri"/>
                <a:cs typeface="Calibri"/>
              </a:rPr>
              <a:t>building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North Carolina.</a:t>
            </a:r>
            <a:endParaRPr sz="1200">
              <a:latin typeface="Calibri"/>
              <a:cs typeface="Calibri"/>
            </a:endParaRPr>
          </a:p>
          <a:p>
            <a:pPr algn="just" marL="12700" marR="361950">
              <a:lnSpc>
                <a:spcPct val="121700"/>
              </a:lnSpc>
              <a:spcBef>
                <a:spcPts val="590"/>
              </a:spcBef>
            </a:pPr>
            <a:r>
              <a:rPr dirty="0" sz="1200" spc="-10">
                <a:latin typeface="Calibri"/>
                <a:cs typeface="Calibri"/>
              </a:rPr>
              <a:t>Re-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mostly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HOAs,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apartment </a:t>
            </a:r>
            <a:r>
              <a:rPr dirty="0" sz="1200">
                <a:latin typeface="Calibri"/>
                <a:cs typeface="Calibri"/>
              </a:rPr>
              <a:t>complexes,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townhouse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communities.</a:t>
            </a:r>
            <a:endParaRPr sz="12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900"/>
              </a:spcBef>
            </a:pP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focus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office/section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company.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464177"/>
          <a:ext cx="4694555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(Est)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$32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$3.2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4947" y="5813425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3652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3671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Construction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967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Gutterwork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038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981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Stick-</a:t>
            </a:r>
            <a:r>
              <a:rPr dirty="0" sz="1200">
                <a:latin typeface="Calibri"/>
                <a:cs typeface="Calibri"/>
              </a:rPr>
              <a:t>Build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modular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housing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66741"/>
            <a:ext cx="11010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Metal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06721" y="4112133"/>
            <a:ext cx="12598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libri"/>
                <a:cs typeface="Calibri"/>
              </a:rPr>
              <a:t>Total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Revenues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079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076" y="5668136"/>
            <a:ext cx="3759835" cy="1129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24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retire,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flexibility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21700"/>
              </a:lnSpc>
              <a:spcBef>
                <a:spcPts val="59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Retiring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GC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licensing,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be </a:t>
            </a:r>
            <a:r>
              <a:rPr dirty="0" sz="1200">
                <a:latin typeface="Calibri"/>
                <a:cs typeface="Calibri"/>
              </a:rPr>
              <a:t>replaced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retire.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006721" y="5372480"/>
            <a:ext cx="1629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Roofing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4529455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7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Storm-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Related</a:t>
            </a:r>
            <a:r>
              <a:rPr dirty="0" sz="1800" spc="-7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7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>
                <a:solidFill>
                  <a:srgbClr val="000000"/>
                </a:solidFill>
              </a:rPr>
              <a:t>:</a:t>
            </a:r>
            <a:r>
              <a:rPr dirty="0" sz="1800" spc="225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Arkansas,</a:t>
            </a:r>
            <a:r>
              <a:rPr dirty="0" sz="1800" spc="-100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Oklahoma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504690" cy="18408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725"/>
              </a:spcBef>
            </a:pP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under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ownership/management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team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since </a:t>
            </a:r>
            <a:r>
              <a:rPr dirty="0" sz="1200">
                <a:latin typeface="Calibri"/>
                <a:cs typeface="Calibri"/>
              </a:rPr>
              <a:t>founding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2018.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>
                <a:latin typeface="Calibri"/>
                <a:cs typeface="Calibri"/>
              </a:rPr>
              <a:t>30%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Annual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year-over-year.</a:t>
            </a:r>
            <a:endParaRPr sz="1200">
              <a:latin typeface="Calibri"/>
              <a:cs typeface="Calibri"/>
            </a:endParaRPr>
          </a:p>
          <a:p>
            <a:pPr marL="12700" marR="161290">
              <a:lnSpc>
                <a:spcPct val="121700"/>
              </a:lnSpc>
              <a:spcBef>
                <a:spcPts val="590"/>
              </a:spcBef>
            </a:pPr>
            <a:r>
              <a:rPr dirty="0" sz="1200">
                <a:latin typeface="Calibri"/>
                <a:cs typeface="Calibri"/>
              </a:rPr>
              <a:t>Works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closely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4-</a:t>
            </a:r>
            <a:r>
              <a:rPr dirty="0" sz="1200">
                <a:latin typeface="Calibri"/>
                <a:cs typeface="Calibri"/>
              </a:rPr>
              <a:t>5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agents,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adjusters,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15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plus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realtors.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25">
                <a:latin typeface="Calibri"/>
                <a:cs typeface="Calibri"/>
              </a:rPr>
              <a:t> is </a:t>
            </a:r>
            <a:r>
              <a:rPr dirty="0" sz="1200" spc="-10">
                <a:latin typeface="Calibri"/>
                <a:cs typeface="Calibri"/>
              </a:rPr>
              <a:t>sub-</a:t>
            </a:r>
            <a:r>
              <a:rPr dirty="0" sz="1200">
                <a:latin typeface="Calibri"/>
                <a:cs typeface="Calibri"/>
              </a:rPr>
              <a:t>contracted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former</a:t>
            </a:r>
            <a:r>
              <a:rPr dirty="0" sz="1200" spc="-10">
                <a:latin typeface="Calibri"/>
                <a:cs typeface="Calibri"/>
              </a:rPr>
              <a:t> employees,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crews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available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 spc="-10">
                <a:latin typeface="Calibri"/>
                <a:cs typeface="Calibri"/>
              </a:rPr>
              <a:t>exclusively.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$2.6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$.33</a:t>
                      </a:r>
                      <a:r>
                        <a:rPr dirty="0" sz="140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12.7%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4947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99%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3652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3938270" cy="2150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Construction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1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Gutterwork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339725" indent="-228600">
              <a:lnSpc>
                <a:spcPct val="120800"/>
              </a:lnSpc>
              <a:spcBef>
                <a:spcPts val="94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future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growth,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partial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buyout.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6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Licensed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Louisiana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Texas,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ready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these </a:t>
            </a:r>
            <a:r>
              <a:rPr dirty="0" sz="1200">
                <a:latin typeface="Calibri"/>
                <a:cs typeface="Calibri"/>
              </a:rPr>
              <a:t>markets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quickly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liquid.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589022" y="4570857"/>
            <a:ext cx="1038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081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37719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>
                <a:solidFill>
                  <a:srgbClr val="000000"/>
                </a:solidFill>
              </a:rPr>
              <a:t>:</a:t>
            </a:r>
            <a:r>
              <a:rPr dirty="0" sz="1800" spc="21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Washington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399280" cy="1397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725"/>
              </a:spcBef>
            </a:pP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40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ago,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two </a:t>
            </a:r>
            <a:r>
              <a:rPr dirty="0" sz="1200" spc="-10">
                <a:latin typeface="Calibri"/>
                <a:cs typeface="Calibri"/>
              </a:rPr>
              <a:t>years.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self-</a:t>
            </a:r>
            <a:r>
              <a:rPr dirty="0" sz="1200">
                <a:latin typeface="Calibri"/>
                <a:cs typeface="Calibri"/>
              </a:rPr>
              <a:t>performed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company’s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90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non-</a:t>
            </a:r>
            <a:r>
              <a:rPr dirty="0" sz="1200">
                <a:latin typeface="Calibri"/>
                <a:cs typeface="Calibri"/>
              </a:rPr>
              <a:t>union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>
                <a:latin typeface="Calibri"/>
                <a:cs typeface="Calibri"/>
              </a:rPr>
              <a:t>Marketing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focused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knocking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online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advertising.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$20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$3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4947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3652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13671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Construction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968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Gutterwork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038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66741"/>
            <a:ext cx="7956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Skylights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082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076" y="5668136"/>
            <a:ext cx="3564890" cy="7378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future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growth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5155565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New</a:t>
            </a:r>
            <a:r>
              <a:rPr dirty="0" sz="18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Construction</a:t>
            </a:r>
            <a:r>
              <a:rPr dirty="0" sz="18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&amp;</a:t>
            </a:r>
            <a:r>
              <a:rPr dirty="0" sz="1800" spc="-3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 spc="-20">
                <a:solidFill>
                  <a:srgbClr val="000000"/>
                </a:solidFill>
              </a:rPr>
              <a:t>:</a:t>
            </a:r>
            <a:r>
              <a:rPr dirty="0" sz="1800" spc="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Arizona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006721" y="1502410"/>
            <a:ext cx="4443095" cy="2878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330200">
              <a:lnSpc>
                <a:spcPct val="120800"/>
              </a:lnSpc>
              <a:spcBef>
                <a:spcPts val="725"/>
              </a:spcBef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1997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focusing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Retail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currently </a:t>
            </a:r>
            <a:r>
              <a:rPr dirty="0" sz="1200">
                <a:latin typeface="Calibri"/>
                <a:cs typeface="Calibri"/>
              </a:rPr>
              <a:t>employs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100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non-</a:t>
            </a:r>
            <a:r>
              <a:rPr dirty="0" sz="1200">
                <a:latin typeface="Calibri"/>
                <a:cs typeface="Calibri"/>
              </a:rPr>
              <a:t>union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workers.</a:t>
            </a:r>
            <a:endParaRPr sz="1200">
              <a:latin typeface="Calibri"/>
              <a:cs typeface="Calibri"/>
            </a:endParaRPr>
          </a:p>
          <a:p>
            <a:pPr marL="12700" marR="93345">
              <a:lnSpc>
                <a:spcPct val="121400"/>
              </a:lnSpc>
              <a:spcBef>
                <a:spcPts val="590"/>
              </a:spcBef>
            </a:pPr>
            <a:r>
              <a:rPr dirty="0" sz="1200">
                <a:latin typeface="Calibri"/>
                <a:cs typeface="Calibri"/>
              </a:rPr>
              <a:t>Currently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employing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zero-</a:t>
            </a:r>
            <a:r>
              <a:rPr dirty="0" sz="1200">
                <a:latin typeface="Calibri"/>
                <a:cs typeface="Calibri"/>
              </a:rPr>
              <a:t>marketing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strategy,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list </a:t>
            </a:r>
            <a:r>
              <a:rPr dirty="0" sz="1200">
                <a:latin typeface="Calibri"/>
                <a:cs typeface="Calibri"/>
              </a:rPr>
              <a:t>entirely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built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referrals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recurring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business.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10">
                <a:latin typeface="Calibri"/>
                <a:cs typeface="Calibri"/>
              </a:rPr>
              <a:t> culls </a:t>
            </a:r>
            <a:r>
              <a:rPr dirty="0" sz="1200">
                <a:latin typeface="Calibri"/>
                <a:cs typeface="Calibri"/>
              </a:rPr>
              <a:t>10%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list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annually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space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business.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>
                <a:latin typeface="Calibri"/>
                <a:cs typeface="Calibri"/>
              </a:rPr>
              <a:t>Certified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built-</a:t>
            </a:r>
            <a:r>
              <a:rPr dirty="0" sz="1200" spc="-25">
                <a:latin typeface="Calibri"/>
                <a:cs typeface="Calibri"/>
              </a:rPr>
              <a:t>up,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ts val="175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modified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bitumen,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single-</a:t>
            </a:r>
            <a:r>
              <a:rPr dirty="0" sz="1200">
                <a:latin typeface="Calibri"/>
                <a:cs typeface="Calibri"/>
              </a:rPr>
              <a:t>ply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TPO,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PVC,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EPDM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membranes,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metal, </a:t>
            </a:r>
            <a:r>
              <a:rPr dirty="0" sz="1200">
                <a:latin typeface="Calibri"/>
                <a:cs typeface="Calibri"/>
              </a:rPr>
              <a:t>foam,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coatings,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cool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shingle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tile,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below-</a:t>
            </a:r>
            <a:r>
              <a:rPr dirty="0" sz="1200">
                <a:latin typeface="Calibri"/>
                <a:cs typeface="Calibri"/>
              </a:rPr>
              <a:t>grade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waterproofing.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$27.2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$4.2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15.4%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4947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99%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978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4079240" cy="1863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  <a:tab pos="2120265" algn="l"/>
                <a:tab pos="2349500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000" spc="-50">
                <a:latin typeface="Symbol"/>
                <a:cs typeface="Symbol"/>
              </a:rPr>
              <a:t>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200" spc="-10">
                <a:latin typeface="Calibri"/>
                <a:cs typeface="Calibri"/>
              </a:rPr>
              <a:t>Waterproofing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4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Founder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wife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(owner)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looking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retire,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involved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looking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</a:t>
            </a:r>
            <a:r>
              <a:rPr dirty="0" sz="1200" spc="-25">
                <a:latin typeface="Calibri"/>
                <a:cs typeface="Calibri"/>
              </a:rPr>
              <a:t> on.</a:t>
            </a:r>
            <a:endParaRPr sz="1200">
              <a:latin typeface="Calibri"/>
              <a:cs typeface="Calibri"/>
            </a:endParaRPr>
          </a:p>
          <a:p>
            <a:pPr marL="241300" marR="271780" indent="-228600">
              <a:lnSpc>
                <a:spcPct val="120800"/>
              </a:lnSpc>
              <a:spcBef>
                <a:spcPts val="61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Turned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down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$4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staffing limitations.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350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Siding</a:t>
            </a:r>
            <a:r>
              <a:rPr dirty="0" sz="1200" spc="-10">
                <a:latin typeface="Calibri"/>
                <a:cs typeface="Calibri"/>
              </a:rPr>
              <a:t> 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7588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Painting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083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37719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000000"/>
                </a:solidFill>
              </a:rPr>
              <a:t>Texas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407535" cy="1543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2021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acquired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Staff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26</a:t>
            </a:r>
            <a:r>
              <a:rPr dirty="0" sz="1200" spc="-25">
                <a:latin typeface="Calibri"/>
                <a:cs typeface="Calibri"/>
              </a:rPr>
              <a:t> on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>
                <a:latin typeface="Calibri"/>
                <a:cs typeface="Calibri"/>
              </a:rPr>
              <a:t>1099s.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clientele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majority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property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management</a:t>
            </a:r>
            <a:endParaRPr sz="1200">
              <a:latin typeface="Calibri"/>
              <a:cs typeface="Calibri"/>
            </a:endParaRPr>
          </a:p>
          <a:p>
            <a:pPr marL="12700" marR="167640">
              <a:lnSpc>
                <a:spcPts val="1750"/>
              </a:lnSpc>
              <a:spcBef>
                <a:spcPts val="95"/>
              </a:spcBef>
            </a:pPr>
            <a:r>
              <a:rPr dirty="0" sz="1200">
                <a:latin typeface="Calibri"/>
                <a:cs typeface="Calibri"/>
              </a:rPr>
              <a:t>companies,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force,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making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30%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total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growing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80%.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621021"/>
          <a:ext cx="4694555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$3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$.6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0757" y="5620892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852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Repair/Replacement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15709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Paintless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477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Emergency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130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Metal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66741"/>
            <a:ext cx="958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Inspections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084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076" y="5639180"/>
            <a:ext cx="3750945" cy="1444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8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ready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scaled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up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21700"/>
              </a:lnSpc>
              <a:spcBef>
                <a:spcPts val="59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contracts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several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property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management companies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company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4389755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6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6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>
                <a:solidFill>
                  <a:srgbClr val="000000"/>
                </a:solidFill>
              </a:rPr>
              <a:t>:</a:t>
            </a:r>
            <a:r>
              <a:rPr dirty="0" sz="1800" spc="21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Colorado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332605" cy="19932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508634">
              <a:lnSpc>
                <a:spcPct val="162500"/>
              </a:lnSpc>
              <a:spcBef>
                <a:spcPts val="125"/>
              </a:spcBef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1984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still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family-based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team. </a:t>
            </a:r>
            <a:r>
              <a:rPr dirty="0" sz="1200">
                <a:latin typeface="Calibri"/>
                <a:cs typeface="Calibri"/>
              </a:rPr>
              <a:t>Authorized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600"/>
              </a:spcBef>
            </a:pPr>
            <a:r>
              <a:rPr dirty="0" sz="1200" spc="-10">
                <a:latin typeface="Calibri"/>
                <a:cs typeface="Calibri"/>
              </a:rPr>
              <a:t>Family-</a:t>
            </a:r>
            <a:r>
              <a:rPr dirty="0" sz="1200">
                <a:latin typeface="Calibri"/>
                <a:cs typeface="Calibri"/>
              </a:rPr>
              <a:t>owned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building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21,000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square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feet</a:t>
            </a:r>
            <a:r>
              <a:rPr dirty="0" sz="1200" spc="-10">
                <a:latin typeface="Calibri"/>
                <a:cs typeface="Calibri"/>
              </a:rPr>
              <a:t> sitting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acres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land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employing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about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50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people.</a:t>
            </a:r>
            <a:endParaRPr sz="1200">
              <a:latin typeface="Calibri"/>
              <a:cs typeface="Calibri"/>
            </a:endParaRPr>
          </a:p>
          <a:p>
            <a:pPr marL="12700" marR="1022985">
              <a:lnSpc>
                <a:spcPct val="1625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48.8%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increase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Fiscal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Years. </a:t>
            </a:r>
            <a:r>
              <a:rPr dirty="0" sz="1200">
                <a:latin typeface="Calibri"/>
                <a:cs typeface="Calibri"/>
              </a:rPr>
              <a:t>Ownership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looking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retire.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2415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$21.1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$2.2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10.3%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$19.8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$1.3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6.6%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$17.1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$.47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2.8%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8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$13.3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8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$.89</a:t>
                      </a:r>
                      <a:r>
                        <a:rPr dirty="0" sz="140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8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6.7%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8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2019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$18.6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$2.7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14.6%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38226" y="3562858"/>
          <a:ext cx="3790950" cy="324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8100"/>
                <a:gridCol w="571500"/>
                <a:gridCol w="560069"/>
                <a:gridCol w="1261109"/>
              </a:tblGrid>
              <a:tr h="324485">
                <a:tc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445889"/>
            <a:ext cx="197294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208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repair/ replacement/restoration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965573"/>
            <a:ext cx="187960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208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repair/ replacement/restoration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589022" y="4483989"/>
            <a:ext cx="1778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Tesla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Solar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741545"/>
            <a:ext cx="1776730" cy="4705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9235">
              <a:lnSpc>
                <a:spcPct val="1217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Architectural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metals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sheet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fabrication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085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81076" y="5610225"/>
            <a:ext cx="4170045" cy="1397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370205" indent="-228600">
              <a:lnSpc>
                <a:spcPct val="120800"/>
              </a:lnSpc>
              <a:spcBef>
                <a:spcPts val="71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‘drawn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line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sand’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now—</a:t>
            </a:r>
            <a:r>
              <a:rPr dirty="0" sz="1200" spc="-25">
                <a:latin typeface="Calibri"/>
                <a:cs typeface="Calibri"/>
              </a:rPr>
              <a:t>may </a:t>
            </a:r>
            <a:r>
              <a:rPr dirty="0" sz="1200">
                <a:latin typeface="Calibri"/>
                <a:cs typeface="Calibri"/>
              </a:rPr>
              <a:t>provide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opportunities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creative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structures.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1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Buyer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seasoned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manager.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Pre-</a:t>
            </a:r>
            <a:r>
              <a:rPr dirty="0" sz="1200">
                <a:latin typeface="Calibri"/>
                <a:cs typeface="Calibri"/>
              </a:rPr>
              <a:t>COVID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Revenue/EBITDA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consistent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expected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growth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4471670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Public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Works</a:t>
            </a:r>
            <a:r>
              <a:rPr dirty="0" sz="1800" spc="-5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0"/>
                </a:solidFill>
              </a:rPr>
              <a:t>Los</a:t>
            </a:r>
            <a:r>
              <a:rPr dirty="0" sz="1800" spc="-45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Angeles,</a:t>
            </a:r>
            <a:r>
              <a:rPr dirty="0" sz="1800" spc="-40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California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461510" cy="18408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1964,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Western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focused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mainly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>
                <a:latin typeface="Calibri"/>
                <a:cs typeface="Calibri"/>
              </a:rPr>
              <a:t>municipal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public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profits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been</a:t>
            </a:r>
            <a:r>
              <a:rPr dirty="0" sz="1200" spc="-10">
                <a:latin typeface="Calibri"/>
                <a:cs typeface="Calibri"/>
              </a:rPr>
              <a:t> steady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200">
                <a:latin typeface="Calibri"/>
                <a:cs typeface="Calibri"/>
              </a:rPr>
              <a:t>long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term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zero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advertising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marketing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kind.</a:t>
            </a:r>
            <a:endParaRPr sz="1200">
              <a:latin typeface="Calibri"/>
              <a:cs typeface="Calibri"/>
            </a:endParaRPr>
          </a:p>
          <a:p>
            <a:pPr marL="12700" marR="218440">
              <a:lnSpc>
                <a:spcPct val="120800"/>
              </a:lnSpc>
              <a:spcBef>
                <a:spcPts val="610"/>
              </a:spcBef>
            </a:pPr>
            <a:r>
              <a:rPr dirty="0" sz="1200">
                <a:latin typeface="Calibri"/>
                <a:cs typeface="Calibri"/>
              </a:rPr>
              <a:t>Family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primed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generational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turnover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management </a:t>
            </a:r>
            <a:r>
              <a:rPr dirty="0" sz="1200">
                <a:latin typeface="Calibri"/>
                <a:cs typeface="Calibri"/>
              </a:rPr>
              <a:t>ready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post-</a:t>
            </a:r>
            <a:r>
              <a:rPr dirty="0" sz="1200" spc="-20">
                <a:latin typeface="Calibri"/>
                <a:cs typeface="Calibri"/>
              </a:rPr>
              <a:t>sale.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621021"/>
          <a:ext cx="4694555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$10.5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$1.2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11%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0757" y="5620892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978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477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Siding</a:t>
            </a:r>
            <a:r>
              <a:rPr dirty="0" sz="1200" spc="-10">
                <a:latin typeface="Calibri"/>
                <a:cs typeface="Calibri"/>
              </a:rPr>
              <a:t> 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5055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Gutter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66741"/>
            <a:ext cx="1222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Inspection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086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076" y="5639180"/>
            <a:ext cx="4022725" cy="1147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08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planning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retirement,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to </a:t>
            </a:r>
            <a:r>
              <a:rPr dirty="0" sz="1200">
                <a:latin typeface="Calibri"/>
                <a:cs typeface="Calibri"/>
              </a:rPr>
              <a:t>help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period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business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1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35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employees,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Unionized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Exterior</a:t>
            </a:r>
            <a:r>
              <a:rPr dirty="0" sz="1800" spc="-5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Services</a:t>
            </a:r>
            <a:r>
              <a:rPr dirty="0" sz="18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>
                <a:solidFill>
                  <a:srgbClr val="000000"/>
                </a:solidFill>
              </a:rPr>
              <a:t>:</a:t>
            </a:r>
            <a:r>
              <a:rPr dirty="0" sz="1800" spc="215">
                <a:solidFill>
                  <a:srgbClr val="000000"/>
                </a:solidFill>
              </a:rPr>
              <a:t> </a:t>
            </a:r>
            <a:r>
              <a:rPr dirty="0" sz="1800" spc="-20">
                <a:solidFill>
                  <a:srgbClr val="000000"/>
                </a:solidFill>
              </a:rPr>
              <a:t>Texas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006721" y="1502410"/>
            <a:ext cx="4338955" cy="2878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725"/>
              </a:spcBef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2015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sales-</a:t>
            </a:r>
            <a:r>
              <a:rPr dirty="0" sz="1200">
                <a:latin typeface="Calibri"/>
                <a:cs typeface="Calibri"/>
              </a:rPr>
              <a:t>oriented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guiding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 period</a:t>
            </a:r>
            <a:r>
              <a:rPr dirty="0" sz="1200" spc="-10">
                <a:latin typeface="Calibri"/>
                <a:cs typeface="Calibri"/>
              </a:rPr>
              <a:t> post-acquisition.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>
                <a:latin typeface="Calibri"/>
                <a:cs typeface="Calibri"/>
              </a:rPr>
              <a:t>Wife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daughter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major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business.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01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future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growth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10">
                <a:latin typeface="Calibri"/>
                <a:cs typeface="Calibri"/>
              </a:rPr>
              <a:t> opportunities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much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10">
                <a:latin typeface="Calibri"/>
                <a:cs typeface="Calibri"/>
              </a:rPr>
              <a:t> roofing-</a:t>
            </a:r>
            <a:r>
              <a:rPr dirty="0" sz="1200">
                <a:latin typeface="Calibri"/>
                <a:cs typeface="Calibri"/>
              </a:rPr>
              <a:t>focused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mix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$2.2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$.5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22.7%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79746" y="6020308"/>
          <a:ext cx="4518660" cy="1001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7308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6273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Siding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589022" y="4570857"/>
            <a:ext cx="7162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Gutters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087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7580" y="5304904"/>
            <a:ext cx="3492880" cy="1757794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6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29845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000000"/>
                </a:solidFill>
              </a:rPr>
              <a:t>Texas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166235" cy="14141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06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1983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3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50</a:t>
            </a:r>
            <a:r>
              <a:rPr dirty="0" sz="1200" spc="-10">
                <a:latin typeface="Calibri"/>
                <a:cs typeface="Calibri"/>
              </a:rPr>
              <a:t> Non-</a:t>
            </a:r>
            <a:r>
              <a:rPr dirty="0" sz="1200">
                <a:latin typeface="Calibri"/>
                <a:cs typeface="Calibri"/>
              </a:rPr>
              <a:t>Union </a:t>
            </a:r>
            <a:r>
              <a:rPr dirty="0" sz="1200" spc="-10">
                <a:latin typeface="Calibri"/>
                <a:cs typeface="Calibri"/>
              </a:rPr>
              <a:t>employees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21700"/>
              </a:lnSpc>
              <a:spcBef>
                <a:spcPts val="640"/>
              </a:spcBef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Major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County-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contract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recently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extended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4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10+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partnership.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621021"/>
          <a:ext cx="4694555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$10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0757" y="5620892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852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Repair/Replacement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18942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Preventative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Maintenence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7399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Energy-</a:t>
            </a:r>
            <a:r>
              <a:rPr dirty="0" sz="1200">
                <a:latin typeface="Calibri"/>
                <a:cs typeface="Calibri"/>
              </a:rPr>
              <a:t>Efficient</a:t>
            </a:r>
            <a:r>
              <a:rPr dirty="0" sz="1200" spc="-10">
                <a:latin typeface="Calibri"/>
                <a:cs typeface="Calibri"/>
              </a:rPr>
              <a:t> 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498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General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Contracting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66741"/>
            <a:ext cx="12033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Water </a:t>
            </a:r>
            <a:r>
              <a:rPr dirty="0" sz="1200" spc="-10">
                <a:latin typeface="Calibri"/>
                <a:cs typeface="Calibri"/>
              </a:rPr>
              <a:t>Proofing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088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076" y="5639180"/>
            <a:ext cx="4090670" cy="1444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89535" indent="-228600">
              <a:lnSpc>
                <a:spcPct val="120800"/>
              </a:lnSpc>
              <a:spcBef>
                <a:spcPts val="108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looking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retire,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hopes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retain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5-10%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equity</a:t>
            </a:r>
            <a:r>
              <a:rPr dirty="0" sz="1200" spc="-25">
                <a:latin typeface="Calibri"/>
                <a:cs typeface="Calibri"/>
              </a:rPr>
              <a:t> to </a:t>
            </a:r>
            <a:r>
              <a:rPr dirty="0" sz="1200">
                <a:latin typeface="Calibri"/>
                <a:cs typeface="Calibri"/>
              </a:rPr>
              <a:t>maintain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status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contracts.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1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Asking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~$2</a:t>
            </a:r>
            <a:r>
              <a:rPr dirty="0" sz="1200" spc="-25">
                <a:latin typeface="Calibri"/>
                <a:cs typeface="Calibri"/>
              </a:rPr>
              <a:t> MM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Long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term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associate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handling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management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37719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 spc="-20">
                <a:solidFill>
                  <a:srgbClr val="000000"/>
                </a:solidFill>
              </a:rPr>
              <a:t>:</a:t>
            </a:r>
            <a:r>
              <a:rPr dirty="0" sz="1800" spc="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Delaware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006721" y="1502410"/>
            <a:ext cx="4413885" cy="2878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725"/>
              </a:spcBef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2011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owner.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inbound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leads. </a:t>
            </a:r>
            <a:r>
              <a:rPr dirty="0" sz="1200">
                <a:latin typeface="Calibri"/>
                <a:cs typeface="Calibri"/>
              </a:rPr>
              <a:t>20+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Non-</a:t>
            </a:r>
            <a:r>
              <a:rPr dirty="0" sz="1200">
                <a:latin typeface="Calibri"/>
                <a:cs typeface="Calibri"/>
              </a:rPr>
              <a:t>Union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staff.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486409" indent="-228600">
              <a:lnSpc>
                <a:spcPct val="120800"/>
              </a:lnSpc>
              <a:spcBef>
                <a:spcPts val="894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future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after </a:t>
            </a:r>
            <a:r>
              <a:rPr dirty="0" sz="1200">
                <a:latin typeface="Calibri"/>
                <a:cs typeface="Calibri"/>
              </a:rPr>
              <a:t>sale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business</a:t>
            </a:r>
            <a:endParaRPr sz="1200">
              <a:latin typeface="Calibri"/>
              <a:cs typeface="Calibri"/>
            </a:endParaRPr>
          </a:p>
          <a:p>
            <a:pPr marL="241300" marR="492759" indent="-228600">
              <a:lnSpc>
                <a:spcPct val="120800"/>
              </a:lnSpc>
              <a:spcBef>
                <a:spcPts val="6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Expansion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opportunities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northern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Pennsylvania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and/or </a:t>
            </a:r>
            <a:r>
              <a:rPr dirty="0" sz="1200">
                <a:latin typeface="Calibri"/>
                <a:cs typeface="Calibri"/>
              </a:rPr>
              <a:t>Maryland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expansion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manpower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$6-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$.5-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~10%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4947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0610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Siding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1498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Window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7119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Storm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Damage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380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Gutter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66741"/>
            <a:ext cx="12319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Chimney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090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8017" y="5748515"/>
            <a:ext cx="2986913" cy="1263218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6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7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Retail</a:t>
            </a:r>
            <a:r>
              <a:rPr dirty="0" sz="1800" spc="-7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7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MN,IO,WI,ND,SD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380230" cy="1100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725"/>
              </a:spcBef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2017,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ownership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board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during</a:t>
            </a:r>
            <a:r>
              <a:rPr dirty="0" sz="1200" spc="-25">
                <a:latin typeface="Calibri"/>
                <a:cs typeface="Calibri"/>
              </a:rPr>
              <a:t> and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transition.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employ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non-</a:t>
            </a:r>
            <a:r>
              <a:rPr dirty="0" sz="1200">
                <a:latin typeface="Calibri"/>
                <a:cs typeface="Calibri"/>
              </a:rPr>
              <a:t>union</a:t>
            </a:r>
            <a:r>
              <a:rPr dirty="0" sz="1200" spc="-10">
                <a:latin typeface="Calibri"/>
                <a:cs typeface="Calibri"/>
              </a:rPr>
              <a:t> salespeople.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 spc="-10">
                <a:latin typeface="Calibri"/>
                <a:cs typeface="Calibri"/>
              </a:rPr>
              <a:t>Year-over-</a:t>
            </a:r>
            <a:r>
              <a:rPr dirty="0" sz="1200">
                <a:latin typeface="Calibri"/>
                <a:cs typeface="Calibri"/>
              </a:rPr>
              <a:t>year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trending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upward: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06721" y="2696083"/>
            <a:ext cx="1229360" cy="815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200" spc="-20">
                <a:latin typeface="Calibri"/>
                <a:cs typeface="Calibri"/>
              </a:rPr>
              <a:t>2021—</a:t>
            </a:r>
            <a:r>
              <a:rPr dirty="0" sz="1200">
                <a:latin typeface="Calibri"/>
                <a:cs typeface="Calibri"/>
              </a:rPr>
              <a:t>$5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MM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44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200" spc="-20">
                <a:latin typeface="Calibri"/>
                <a:cs typeface="Calibri"/>
              </a:rPr>
              <a:t>2022—</a:t>
            </a:r>
            <a:r>
              <a:rPr dirty="0" sz="1200">
                <a:latin typeface="Calibri"/>
                <a:cs typeface="Calibri"/>
              </a:rPr>
              <a:t>$17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MM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5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200" spc="-20">
                <a:latin typeface="Calibri"/>
                <a:cs typeface="Calibri"/>
              </a:rPr>
              <a:t>2023—</a:t>
            </a:r>
            <a:r>
              <a:rPr dirty="0" sz="1200">
                <a:latin typeface="Calibri"/>
                <a:cs typeface="Calibri"/>
              </a:rPr>
              <a:t>$20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MM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4982845" y="4621021"/>
          <a:ext cx="4694555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$20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$3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457212" y="5882640"/>
          <a:ext cx="92430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  <a:gridCol w="4725035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481076" y="4570857"/>
            <a:ext cx="1852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Repair/Replacement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4868036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1076" y="5166741"/>
            <a:ext cx="1397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Maintenance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1076" y="5463920"/>
            <a:ext cx="1668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Metal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4570857"/>
            <a:ext cx="11106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Coatings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589022" y="4868036"/>
            <a:ext cx="1350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Siding</a:t>
            </a:r>
            <a:r>
              <a:rPr dirty="0" sz="1200" spc="-10">
                <a:latin typeface="Calibri"/>
                <a:cs typeface="Calibri"/>
              </a:rPr>
              <a:t> 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589022" y="5166741"/>
            <a:ext cx="19189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Insurance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Claim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Assistance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091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4713" y="5738152"/>
            <a:ext cx="3187191" cy="1388237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6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1397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7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Retail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7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 spc="-20">
                <a:solidFill>
                  <a:srgbClr val="000000"/>
                </a:solidFill>
              </a:rPr>
              <a:t>:</a:t>
            </a:r>
            <a:r>
              <a:rPr dirty="0" sz="1800" spc="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NY,NJ,CT,MA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253230" cy="1543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105410">
              <a:lnSpc>
                <a:spcPct val="120800"/>
              </a:lnSpc>
              <a:spcBef>
                <a:spcPts val="725"/>
              </a:spcBef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2004,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carrying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standard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28-30%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profit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margin.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derives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strategic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relationships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with </a:t>
            </a:r>
            <a:r>
              <a:rPr dirty="0" sz="1200">
                <a:latin typeface="Calibri"/>
                <a:cs typeface="Calibri"/>
              </a:rPr>
              <a:t>General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Contractors.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21700"/>
              </a:lnSpc>
              <a:spcBef>
                <a:spcPts val="590"/>
              </a:spcBef>
            </a:pPr>
            <a:r>
              <a:rPr dirty="0" sz="1200">
                <a:latin typeface="Calibri"/>
                <a:cs typeface="Calibri"/>
              </a:rPr>
              <a:t>Currently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staffing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25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non-union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looking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expansion </a:t>
            </a:r>
            <a:r>
              <a:rPr dirty="0" sz="1200">
                <a:latin typeface="Calibri"/>
                <a:cs typeface="Calibri"/>
              </a:rPr>
              <a:t>avenues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siding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parallel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$1-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5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$.5-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~20%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4947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32757"/>
            <a:ext cx="143891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208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TPO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&amp;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PVC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 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5090541"/>
            <a:ext cx="185356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Metal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387720"/>
            <a:ext cx="4009390" cy="156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Green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Vegetation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future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growth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Ultimately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818002" y="4570857"/>
            <a:ext cx="7162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28413"/>
            <a:ext cx="1739900" cy="4705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9235">
              <a:lnSpc>
                <a:spcPct val="1217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Walking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path/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Skylight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/ </a:t>
            </a:r>
            <a:r>
              <a:rPr dirty="0" sz="1200" spc="-10">
                <a:latin typeface="Calibri"/>
                <a:cs typeface="Calibri"/>
              </a:rPr>
              <a:t>Waterproofing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092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37719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>
                <a:solidFill>
                  <a:srgbClr val="000000"/>
                </a:solidFill>
              </a:rPr>
              <a:t>:</a:t>
            </a:r>
            <a:r>
              <a:rPr dirty="0" sz="1800" spc="21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Florida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3935729" cy="581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200">
                <a:latin typeface="Calibri"/>
                <a:cs typeface="Calibri"/>
              </a:rPr>
              <a:t>Veteran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founding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2009.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$14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14.3%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4947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40%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60%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1645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12820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Inspections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1645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Shampoo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6998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Maintenance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66741"/>
            <a:ext cx="185991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Emergency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Tarp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Solutions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093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076" y="5668136"/>
            <a:ext cx="3599179" cy="958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95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planning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retire,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daughter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currently</a:t>
            </a:r>
            <a:r>
              <a:rPr dirty="0" sz="1200" spc="-25">
                <a:latin typeface="Calibri"/>
                <a:cs typeface="Calibri"/>
              </a:rPr>
              <a:t> in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acquisition.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81955" y="2438400"/>
            <a:ext cx="4472940" cy="1124712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5130165" y="2701264"/>
            <a:ext cx="4173854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6095" marR="5080" indent="-17640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Kevin 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6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4700270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 spc="-20">
                <a:solidFill>
                  <a:srgbClr val="000000"/>
                </a:solidFill>
              </a:rPr>
              <a:t>:</a:t>
            </a:r>
            <a:r>
              <a:rPr dirty="0" sz="1800" spc="5">
                <a:solidFill>
                  <a:srgbClr val="000000"/>
                </a:solidFill>
              </a:rPr>
              <a:t> </a:t>
            </a:r>
            <a:r>
              <a:rPr dirty="0" sz="1800" spc="-20">
                <a:solidFill>
                  <a:srgbClr val="000000"/>
                </a:solidFill>
              </a:rPr>
              <a:t>Ohio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2615310"/>
            <a:ext cx="1473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40 </a:t>
            </a:r>
            <a:r>
              <a:rPr dirty="0" sz="1200" spc="-10">
                <a:latin typeface="Calibri"/>
                <a:cs typeface="Calibri"/>
              </a:rPr>
              <a:t>Full-</a:t>
            </a:r>
            <a:r>
              <a:rPr dirty="0" sz="1200">
                <a:latin typeface="Calibri"/>
                <a:cs typeface="Calibri"/>
              </a:rPr>
              <a:t>time </a:t>
            </a:r>
            <a:r>
              <a:rPr dirty="0" sz="1200" spc="-10">
                <a:latin typeface="Calibri"/>
                <a:cs typeface="Calibri"/>
              </a:rPr>
              <a:t>employees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06721" y="1502410"/>
            <a:ext cx="1782445" cy="2061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300990">
              <a:lnSpc>
                <a:spcPct val="120800"/>
              </a:lnSpc>
              <a:spcBef>
                <a:spcPts val="725"/>
              </a:spcBef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2010.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Fully </a:t>
            </a:r>
            <a:r>
              <a:rPr dirty="0" sz="1200">
                <a:latin typeface="Calibri"/>
                <a:cs typeface="Calibri"/>
              </a:rPr>
              <a:t>owned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active/ </a:t>
            </a:r>
            <a:r>
              <a:rPr dirty="0" sz="1200">
                <a:latin typeface="Calibri"/>
                <a:cs typeface="Calibri"/>
              </a:rPr>
              <a:t>involved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owner.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</a:pPr>
            <a:r>
              <a:rPr dirty="0" sz="1200">
                <a:latin typeface="Calibri"/>
                <a:cs typeface="Calibri"/>
              </a:rPr>
              <a:t>HQ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Delaware,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Ohio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second</a:t>
            </a:r>
            <a:r>
              <a:rPr dirty="0" sz="1200" spc="-10">
                <a:latin typeface="Calibri"/>
                <a:cs typeface="Calibri"/>
              </a:rPr>
              <a:t> location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Marion, Ohio.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4982845" y="4551679"/>
          <a:ext cx="4694555" cy="160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$20.6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$2.95</a:t>
                      </a:r>
                      <a:r>
                        <a:rPr dirty="0" sz="1400" spc="-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14%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$16.2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$.18</a:t>
                      </a:r>
                      <a:r>
                        <a:rPr dirty="0" sz="140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1.1%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$16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$1.4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1296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Metal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762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Shingles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11880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EPDM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TPO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3227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Green/Live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Roofs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4908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25">
                <a:latin typeface="Calibri"/>
                <a:cs typeface="Calibri"/>
              </a:rPr>
              <a:t>PVS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66741"/>
            <a:ext cx="8401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Ply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094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006721" y="6290259"/>
            <a:ext cx="4281805" cy="822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88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various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structures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remain</a:t>
            </a:r>
            <a:r>
              <a:rPr dirty="0" sz="1200" spc="-20">
                <a:latin typeface="Calibri"/>
                <a:cs typeface="Calibri"/>
              </a:rPr>
              <a:t> with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period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ensure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smooth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transition.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7745" y="1805685"/>
            <a:ext cx="2980181" cy="1897633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481076" y="5620892"/>
            <a:ext cx="4006850" cy="1386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Opportunities</a:t>
            </a:r>
            <a:endParaRPr sz="1600">
              <a:latin typeface="Calibri"/>
              <a:cs typeface="Calibri"/>
            </a:endParaRPr>
          </a:p>
          <a:p>
            <a:pPr marL="241300" marR="161925" indent="-228600">
              <a:lnSpc>
                <a:spcPct val="120800"/>
              </a:lnSpc>
              <a:spcBef>
                <a:spcPts val="123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enough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equipment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establish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separate </a:t>
            </a:r>
            <a:r>
              <a:rPr dirty="0" sz="1200">
                <a:latin typeface="Calibri"/>
                <a:cs typeface="Calibri"/>
              </a:rPr>
              <a:t>retail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entity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61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Continue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develop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promote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department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>
                <a:latin typeface="Calibri"/>
                <a:cs typeface="Calibri"/>
              </a:rPr>
              <a:t>take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advantage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recurring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opportunities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6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37719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000000"/>
                </a:solidFill>
              </a:rPr>
              <a:t>Texas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493260" cy="1619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1984,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employs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11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full-time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5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part-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employees.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21700"/>
              </a:lnSpc>
              <a:spcBef>
                <a:spcPts val="590"/>
              </a:spcBef>
            </a:pPr>
            <a:r>
              <a:rPr dirty="0" sz="1200" spc="-10">
                <a:latin typeface="Calibri"/>
                <a:cs typeface="Calibri"/>
              </a:rPr>
              <a:t>Long-</a:t>
            </a:r>
            <a:r>
              <a:rPr dirty="0" sz="1200">
                <a:latin typeface="Calibri"/>
                <a:cs typeface="Calibri"/>
              </a:rPr>
              <a:t>standing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reputation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long-</a:t>
            </a:r>
            <a:r>
              <a:rPr dirty="0" sz="1200">
                <a:latin typeface="Calibri"/>
                <a:cs typeface="Calibri"/>
              </a:rPr>
              <a:t>term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10">
                <a:latin typeface="Calibri"/>
                <a:cs typeface="Calibri"/>
              </a:rPr>
              <a:t> relationships indicates </a:t>
            </a:r>
            <a:r>
              <a:rPr dirty="0" sz="1200">
                <a:latin typeface="Calibri"/>
                <a:cs typeface="Calibri"/>
              </a:rPr>
              <a:t>there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opportunity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scale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additional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capital.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06721" y="3211195"/>
            <a:ext cx="15379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2020—</a:t>
            </a:r>
            <a:r>
              <a:rPr dirty="0" sz="1200" spc="-10">
                <a:latin typeface="Calibri"/>
                <a:cs typeface="Calibri"/>
              </a:rPr>
              <a:t>$172,000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006721" y="3508375"/>
            <a:ext cx="16338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EBITDS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2022—$1,700,000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4982845" y="4621021"/>
          <a:ext cx="4694555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$12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$1.7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14.2%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5040757" y="5620892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 descr=""/>
          <p:cNvSpPr txBox="1"/>
          <p:nvPr/>
        </p:nvSpPr>
        <p:spPr>
          <a:xfrm>
            <a:off x="481076" y="4570857"/>
            <a:ext cx="14541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1076" y="4868036"/>
            <a:ext cx="8350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Windows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1076" y="5166741"/>
            <a:ext cx="715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Gutters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4570857"/>
            <a:ext cx="7588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Painting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589022" y="4868036"/>
            <a:ext cx="9931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Remodeling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589022" y="5166741"/>
            <a:ext cx="732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Fencing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095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81076" y="5639180"/>
            <a:ext cx="3948429" cy="1156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1700"/>
              </a:lnSpc>
              <a:spcBef>
                <a:spcPts val="1110"/>
              </a:spcBef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board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company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it’s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period</a:t>
            </a:r>
            <a:r>
              <a:rPr dirty="0" sz="1200" spc="-10">
                <a:latin typeface="Calibri"/>
                <a:cs typeface="Calibri"/>
              </a:rPr>
              <a:t> post-acquisition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3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Sales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$5.5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2020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$12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2022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5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&amp;</a:t>
            </a:r>
            <a:r>
              <a:rPr dirty="0" sz="18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5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0"/>
                </a:solidFill>
              </a:rPr>
              <a:t>Southeast</a:t>
            </a:r>
            <a:r>
              <a:rPr dirty="0" sz="1800" spc="-40">
                <a:solidFill>
                  <a:srgbClr val="000000"/>
                </a:solidFill>
              </a:rPr>
              <a:t> </a:t>
            </a:r>
            <a:r>
              <a:rPr dirty="0" sz="1800" spc="-25">
                <a:solidFill>
                  <a:srgbClr val="000000"/>
                </a:solidFill>
              </a:rPr>
              <a:t>US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580003" y="1502410"/>
            <a:ext cx="5748655" cy="802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725"/>
              </a:spcBef>
            </a:pPr>
            <a:r>
              <a:rPr dirty="0" sz="1200">
                <a:latin typeface="Calibri"/>
                <a:cs typeface="Calibri"/>
              </a:rPr>
              <a:t>Revenue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adjusted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EBITDA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compound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annual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rates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(CAGRs)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12.8%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32.1%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respectively,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2021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trailing-twelve-</a:t>
            </a:r>
            <a:r>
              <a:rPr dirty="0" sz="1200">
                <a:latin typeface="Calibri"/>
                <a:cs typeface="Calibri"/>
              </a:rPr>
              <a:t>month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(TTM)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ending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June</a:t>
            </a:r>
            <a:r>
              <a:rPr dirty="0" sz="1200" spc="-20">
                <a:latin typeface="Calibri"/>
                <a:cs typeface="Calibri"/>
              </a:rPr>
              <a:t> 2023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54837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5465953"/>
          <a:ext cx="4694555" cy="160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$45.2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$2.7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6%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$49.4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3.1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6.3%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$54.2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$4.1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7.6%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481076" y="5971794"/>
            <a:ext cx="1852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Repair/Replacement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81076" y="6268973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6567627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589022" y="5971794"/>
            <a:ext cx="1477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Siding</a:t>
            </a:r>
            <a:r>
              <a:rPr dirty="0" sz="1200" spc="-10">
                <a:latin typeface="Calibri"/>
                <a:cs typeface="Calibri"/>
              </a:rPr>
              <a:t> 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6268973"/>
            <a:ext cx="15055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Gutter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6567627"/>
            <a:ext cx="1222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Inspection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096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580003" y="2462911"/>
            <a:ext cx="25615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580003" y="2889630"/>
            <a:ext cx="2311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$20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backlog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6/30/2023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580003" y="3186810"/>
            <a:ext cx="24377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75%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repeat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clients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580003" y="3485515"/>
            <a:ext cx="2820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facilities,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16,000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607302" y="2851530"/>
            <a:ext cx="2907030" cy="911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88900" indent="-228600">
              <a:lnSpc>
                <a:spcPct val="1208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three</a:t>
            </a:r>
            <a:r>
              <a:rPr dirty="0" sz="1200" spc="-10">
                <a:latin typeface="Calibri"/>
                <a:cs typeface="Calibri"/>
              </a:rPr>
              <a:t> shareholders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involved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day-to-</a:t>
            </a:r>
            <a:r>
              <a:rPr dirty="0" sz="1200" spc="-25">
                <a:latin typeface="Calibri"/>
                <a:cs typeface="Calibri"/>
              </a:rPr>
              <a:t>day</a:t>
            </a:r>
            <a:endParaRPr sz="1200">
              <a:latin typeface="Calibri"/>
              <a:cs typeface="Calibri"/>
            </a:endParaRPr>
          </a:p>
          <a:p>
            <a:pPr marL="241300" marR="5080">
              <a:lnSpc>
                <a:spcPct val="1208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operations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remaining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period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2679192" cy="1598676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741680" y="2333980"/>
            <a:ext cx="2106295" cy="801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21100"/>
              </a:lnSpc>
              <a:spcBef>
                <a:spcPts val="105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 profile,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Kevin 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8219" y="4180332"/>
            <a:ext cx="7807452" cy="1031747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2482342" y="4570857"/>
            <a:ext cx="48393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Kevin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6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5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&amp;</a:t>
            </a:r>
            <a:r>
              <a:rPr dirty="0" sz="18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5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NY,PA,CT,NY,MA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580003" y="1502410"/>
            <a:ext cx="2911475" cy="581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200">
                <a:latin typeface="Calibri"/>
                <a:cs typeface="Calibri"/>
              </a:rPr>
              <a:t>Family</a:t>
            </a:r>
            <a:r>
              <a:rPr dirty="0" sz="1200" spc="-10">
                <a:latin typeface="Calibri"/>
                <a:cs typeface="Calibri"/>
              </a:rPr>
              <a:t> operation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brothers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2006.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86809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313688" y="5345303"/>
          <a:ext cx="2385695" cy="1598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47445"/>
              </a:tblGrid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19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8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$10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8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$12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$14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481076" y="4558665"/>
            <a:ext cx="1852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Repair/Replacement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81076" y="4855845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448939" y="4558665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448939" y="4855845"/>
            <a:ext cx="1476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Siding</a:t>
            </a:r>
            <a:r>
              <a:rPr dirty="0" sz="1200" spc="-10">
                <a:latin typeface="Calibri"/>
                <a:cs typeface="Calibri"/>
              </a:rPr>
              <a:t> 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418326" y="4558665"/>
            <a:ext cx="1504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Gutter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418326" y="4855845"/>
            <a:ext cx="1221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Inspection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097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580003" y="2462911"/>
            <a:ext cx="25615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580003" y="2851530"/>
            <a:ext cx="529971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208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period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after acquisition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580003" y="3409315"/>
            <a:ext cx="3769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Internal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marketing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departmemt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15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salespeople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2679192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741680" y="2333980"/>
            <a:ext cx="2106295" cy="801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21100"/>
              </a:lnSpc>
              <a:spcBef>
                <a:spcPts val="105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 profile,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Kevin 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22" name="object 22" descr=""/>
          <p:cNvGraphicFramePr>
            <a:graphicFrameLocks noGrp="1"/>
          </p:cNvGraphicFramePr>
          <p:nvPr/>
        </p:nvGraphicFramePr>
        <p:xfrm>
          <a:off x="4233164" y="547750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60833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Nevada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337685" cy="1939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1967,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Certified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Master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Contractors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Firestone,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GAF,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>
                <a:latin typeface="Calibri"/>
                <a:cs typeface="Calibri"/>
              </a:rPr>
              <a:t>Johns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Manville.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2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planning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retirement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57212" y="5733415"/>
          <a:ext cx="4105275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9075"/>
                <a:gridCol w="571500"/>
                <a:gridCol w="560069"/>
                <a:gridCol w="1394459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82%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18%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481076" y="4570857"/>
            <a:ext cx="1363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Single-</a:t>
            </a:r>
            <a:r>
              <a:rPr dirty="0" sz="1200">
                <a:latin typeface="Calibri"/>
                <a:cs typeface="Calibri"/>
              </a:rPr>
              <a:t>Ply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81076" y="4868036"/>
            <a:ext cx="18434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Architectural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Sheet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Metal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758567" y="4570857"/>
            <a:ext cx="9702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Wall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Panels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758567" y="4868036"/>
            <a:ext cx="10737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Fascia/Soffits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037201" y="4570857"/>
            <a:ext cx="10077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Sheet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Metal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037201" y="4868036"/>
            <a:ext cx="11982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Gutter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314438" y="4570857"/>
            <a:ext cx="1073150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Maintenance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Leak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81076" y="5255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754871" y="1002538"/>
            <a:ext cx="7645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99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006721" y="3531234"/>
            <a:ext cx="9321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Non-Union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19" name="object 19" descr=""/>
          <p:cNvGraphicFramePr>
            <a:graphicFrameLocks noGrp="1"/>
          </p:cNvGraphicFramePr>
          <p:nvPr/>
        </p:nvGraphicFramePr>
        <p:xfrm>
          <a:off x="5354320" y="5467222"/>
          <a:ext cx="3540125" cy="1606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Net</a:t>
                      </a:r>
                      <a:r>
                        <a:rPr dirty="0" sz="14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Profit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8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$28.7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8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$2.9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8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8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$21.2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8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$2.1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8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$19.6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$2.1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pic>
        <p:nvPicPr>
          <p:cNvPr id="20" name="object 2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37719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spc="-2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0"/>
                </a:solidFill>
              </a:rPr>
              <a:t>New</a:t>
            </a:r>
            <a:r>
              <a:rPr dirty="0" sz="1800" spc="-20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Jersey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580003" y="1502410"/>
            <a:ext cx="5737860" cy="802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725"/>
              </a:spcBef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2002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owner/management.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opportunity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beynod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Essex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county. </a:t>
            </a:r>
            <a:r>
              <a:rPr dirty="0" sz="1200">
                <a:latin typeface="Calibri"/>
                <a:cs typeface="Calibri"/>
              </a:rPr>
              <a:t>95%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sourced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referrals.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Average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~$15,000.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76141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784725"/>
          <a:ext cx="4694555" cy="2070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4927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20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20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20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$3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$.6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65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$4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65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.75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65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18.8%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65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675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$4.6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21.7%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15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481076" y="4618101"/>
            <a:ext cx="1852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Repair/Replacement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81076" y="4915280"/>
            <a:ext cx="1476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Siding</a:t>
            </a:r>
            <a:r>
              <a:rPr dirty="0" sz="1200" spc="-10">
                <a:latin typeface="Calibri"/>
                <a:cs typeface="Calibri"/>
              </a:rPr>
              <a:t> 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589022" y="4618101"/>
            <a:ext cx="15055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Gutter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589022" y="4915280"/>
            <a:ext cx="8350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Windows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100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580003" y="2462911"/>
            <a:ext cx="25615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580003" y="2851530"/>
            <a:ext cx="5795645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208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helping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period post-acquisition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580003" y="3409315"/>
            <a:ext cx="5232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Revenue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breakdown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roughly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80%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20%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siding/window/gutter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work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2679192" cy="1598676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741680" y="2333980"/>
            <a:ext cx="2106295" cy="801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21100"/>
              </a:lnSpc>
              <a:spcBef>
                <a:spcPts val="105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 profile,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Kevin 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006721" y="4176141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21" name="object 21" descr=""/>
          <p:cNvGraphicFramePr>
            <a:graphicFrameLocks noGrp="1"/>
          </p:cNvGraphicFramePr>
          <p:nvPr/>
        </p:nvGraphicFramePr>
        <p:xfrm>
          <a:off x="457212" y="5503926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29845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>
                <a:solidFill>
                  <a:srgbClr val="000000"/>
                </a:solidFill>
              </a:rPr>
              <a:t>:</a:t>
            </a:r>
            <a:r>
              <a:rPr dirty="0" sz="1800" spc="21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Tennessee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198620" cy="1397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200">
                <a:latin typeface="Calibri"/>
                <a:cs typeface="Calibri"/>
              </a:rPr>
              <a:t>Acquired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founder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2012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 spc="-10">
                <a:latin typeface="Calibri"/>
                <a:cs typeface="Calibri"/>
              </a:rPr>
              <a:t>Non-</a:t>
            </a:r>
            <a:r>
              <a:rPr dirty="0" sz="1200">
                <a:latin typeface="Calibri"/>
                <a:cs typeface="Calibri"/>
              </a:rPr>
              <a:t>union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staff,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majority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relationships</a:t>
            </a:r>
            <a:r>
              <a:rPr dirty="0" sz="1200" spc="-20">
                <a:latin typeface="Calibri"/>
                <a:cs typeface="Calibri"/>
              </a:rPr>
              <a:t> with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>
                <a:latin typeface="Calibri"/>
                <a:cs typeface="Calibri"/>
              </a:rPr>
              <a:t>various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contractors.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>
                <a:latin typeface="Calibri"/>
                <a:cs typeface="Calibri"/>
              </a:rPr>
              <a:t>Generally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quick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jobs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$50,000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$100,000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total.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3564890" cy="2293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69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Siding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1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Gutters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5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future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growth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$5.8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$.75</a:t>
                      </a:r>
                      <a:r>
                        <a:rPr dirty="0" sz="140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12.9%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4947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101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29845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>
                <a:solidFill>
                  <a:srgbClr val="000000"/>
                </a:solidFill>
              </a:rPr>
              <a:t>:</a:t>
            </a:r>
            <a:r>
              <a:rPr dirty="0" sz="1800" spc="215">
                <a:solidFill>
                  <a:srgbClr val="000000"/>
                </a:solidFill>
              </a:rPr>
              <a:t> </a:t>
            </a:r>
            <a:r>
              <a:rPr dirty="0" sz="1800" spc="-20">
                <a:solidFill>
                  <a:srgbClr val="000000"/>
                </a:solidFill>
              </a:rPr>
              <a:t>Ohio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061460" cy="2106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200">
                <a:latin typeface="Calibri"/>
                <a:cs typeface="Calibri"/>
              </a:rPr>
              <a:t>Sole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separate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companies.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exiting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21700"/>
              </a:lnSpc>
              <a:spcBef>
                <a:spcPts val="59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Majority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10">
                <a:latin typeface="Calibri"/>
                <a:cs typeface="Calibri"/>
              </a:rPr>
              <a:t> relationships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large</a:t>
            </a:r>
            <a:r>
              <a:rPr dirty="0" sz="1200" spc="-10">
                <a:latin typeface="Calibri"/>
                <a:cs typeface="Calibri"/>
              </a:rPr>
              <a:t> national contractors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160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$14.2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$.68</a:t>
                      </a:r>
                      <a:r>
                        <a:rPr dirty="0" sz="140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4.8%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$26.4</a:t>
                      </a:r>
                      <a:r>
                        <a:rPr dirty="0" sz="1400" spc="-7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$3.7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14%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$26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$2.8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10.8%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457212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7308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6273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Siding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715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Gutters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564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coating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7926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Gutters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Downspouts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66741"/>
            <a:ext cx="17145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Snow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retaining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102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37719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 spc="-20">
                <a:solidFill>
                  <a:srgbClr val="000000"/>
                </a:solidFill>
              </a:rPr>
              <a:t>:</a:t>
            </a:r>
            <a:r>
              <a:rPr dirty="0" sz="1800" spc="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Georgia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104257" y="1535937"/>
            <a:ext cx="4190365" cy="2090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Founded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2019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owner.</a:t>
            </a:r>
            <a:endParaRPr sz="1100">
              <a:latin typeface="Calibri"/>
              <a:cs typeface="Calibri"/>
            </a:endParaRPr>
          </a:p>
          <a:p>
            <a:pPr marL="12700" marR="259715">
              <a:lnSpc>
                <a:spcPct val="120900"/>
              </a:lnSpc>
              <a:spcBef>
                <a:spcPts val="605"/>
              </a:spcBef>
            </a:pPr>
            <a:r>
              <a:rPr dirty="0" sz="1100">
                <a:latin typeface="Calibri"/>
                <a:cs typeface="Calibri"/>
              </a:rPr>
              <a:t>Owner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also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salesman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involved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heavily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company’s </a:t>
            </a:r>
            <a:r>
              <a:rPr dirty="0" sz="1100">
                <a:latin typeface="Calibri"/>
                <a:cs typeface="Calibri"/>
              </a:rPr>
              <a:t>salesforce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most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through </a:t>
            </a:r>
            <a:r>
              <a:rPr dirty="0" sz="1100" spc="-10">
                <a:latin typeface="Calibri"/>
                <a:cs typeface="Calibri"/>
              </a:rPr>
              <a:t>‘doorknocking’.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100">
                <a:latin typeface="Calibri"/>
                <a:cs typeface="Calibri"/>
              </a:rPr>
              <a:t>$4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sales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2022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grew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$8.7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2023.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21800"/>
              </a:lnSpc>
              <a:spcBef>
                <a:spcPts val="590"/>
              </a:spcBef>
            </a:pPr>
            <a:r>
              <a:rPr dirty="0" sz="1100">
                <a:latin typeface="Calibri"/>
                <a:cs typeface="Calibri"/>
              </a:rPr>
              <a:t>Only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administrative </a:t>
            </a:r>
            <a:r>
              <a:rPr dirty="0" sz="1100">
                <a:latin typeface="Calibri"/>
                <a:cs typeface="Calibri"/>
              </a:rPr>
              <a:t>employee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W-2, rest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 all</a:t>
            </a:r>
            <a:r>
              <a:rPr dirty="0" sz="1100" spc="-20">
                <a:latin typeface="Calibri"/>
                <a:cs typeface="Calibri"/>
              </a:rPr>
              <a:t> sub- </a:t>
            </a:r>
            <a:r>
              <a:rPr dirty="0" sz="1100" spc="-10">
                <a:latin typeface="Calibri"/>
                <a:cs typeface="Calibri"/>
              </a:rPr>
              <a:t>contracted.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$8.7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$.8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9.2%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79746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967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Gutterwork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4070350" cy="1642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  <a:tab pos="2120265" algn="l"/>
                <a:tab pos="2349500" algn="l"/>
              </a:tabLst>
            </a:pPr>
            <a:r>
              <a:rPr dirty="0" sz="1200" spc="-10">
                <a:latin typeface="Calibri"/>
                <a:cs typeface="Calibri"/>
              </a:rPr>
              <a:t>Siding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000" spc="-50">
                <a:latin typeface="Symbol"/>
                <a:cs typeface="Symbol"/>
              </a:rPr>
              <a:t>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4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period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after </a:t>
            </a:r>
            <a:r>
              <a:rPr dirty="0" sz="1200" spc="-20">
                <a:latin typeface="Calibri"/>
                <a:cs typeface="Calibri"/>
              </a:rPr>
              <a:t>sale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1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re-investing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958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Inspections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326885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103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84836"/>
            <a:ext cx="34829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18008" y="519430"/>
            <a:ext cx="3680460" cy="128524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800" b="1">
                <a:latin typeface="Calibri"/>
                <a:cs typeface="Calibri"/>
              </a:rPr>
              <a:t>Residential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Re-</a:t>
            </a:r>
            <a:r>
              <a:rPr dirty="0" sz="1800" b="1">
                <a:latin typeface="Calibri"/>
                <a:cs typeface="Calibri"/>
              </a:rPr>
              <a:t>Roofing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Company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800" spc="-20" b="1">
                <a:latin typeface="Calibri"/>
                <a:cs typeface="Calibri"/>
              </a:rPr>
              <a:t>Territory</a:t>
            </a:r>
            <a:r>
              <a:rPr dirty="0" sz="1800" spc="-20">
                <a:latin typeface="Calibri"/>
                <a:cs typeface="Calibri"/>
              </a:rPr>
              <a:t>: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Georgia,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Alabama,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Tennessee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800">
              <a:latin typeface="Calibri"/>
              <a:cs typeface="Calibri"/>
            </a:endParaRPr>
          </a:p>
          <a:p>
            <a:pPr marL="175260">
              <a:lnSpc>
                <a:spcPct val="100000"/>
              </a:lnSpc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104257" y="1535937"/>
            <a:ext cx="4190365" cy="2014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100">
                <a:latin typeface="Calibri"/>
                <a:cs typeface="Calibri"/>
              </a:rPr>
              <a:t>Two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companies,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founded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2018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2019,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owners.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owner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also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salesman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involved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heavily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company’s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100">
                <a:latin typeface="Calibri"/>
                <a:cs typeface="Calibri"/>
              </a:rPr>
              <a:t>salesforce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most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through </a:t>
            </a:r>
            <a:r>
              <a:rPr dirty="0" sz="1100" spc="-10">
                <a:latin typeface="Calibri"/>
                <a:cs typeface="Calibri"/>
              </a:rPr>
              <a:t>‘doorknocking’.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20900"/>
              </a:lnSpc>
              <a:spcBef>
                <a:spcPts val="605"/>
              </a:spcBef>
            </a:pPr>
            <a:r>
              <a:rPr dirty="0" sz="1100">
                <a:latin typeface="Calibri"/>
                <a:cs typeface="Calibri"/>
              </a:rPr>
              <a:t>Only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administrative </a:t>
            </a:r>
            <a:r>
              <a:rPr dirty="0" sz="1100">
                <a:latin typeface="Calibri"/>
                <a:cs typeface="Calibri"/>
              </a:rPr>
              <a:t>employee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W-2, rest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 all</a:t>
            </a:r>
            <a:r>
              <a:rPr dirty="0" sz="1100" spc="-20">
                <a:latin typeface="Calibri"/>
                <a:cs typeface="Calibri"/>
              </a:rPr>
              <a:t> sub- </a:t>
            </a:r>
            <a:r>
              <a:rPr dirty="0" sz="1100" spc="-10">
                <a:latin typeface="Calibri"/>
                <a:cs typeface="Calibri"/>
              </a:rPr>
              <a:t>contracted.</a:t>
            </a:r>
            <a:endParaRPr sz="1100">
              <a:latin typeface="Calibri"/>
              <a:cs typeface="Calibri"/>
            </a:endParaRPr>
          </a:p>
          <a:p>
            <a:pPr marL="12700" marR="35560">
              <a:lnSpc>
                <a:spcPct val="121800"/>
              </a:lnSpc>
              <a:spcBef>
                <a:spcPts val="585"/>
              </a:spcBef>
            </a:pPr>
            <a:r>
              <a:rPr dirty="0" sz="1100">
                <a:latin typeface="Calibri"/>
                <a:cs typeface="Calibri"/>
              </a:rPr>
              <a:t>Several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avenues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future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savings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been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identified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upon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merging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operations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$25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$3.5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14%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5079746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481076" y="4570857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4868036"/>
            <a:ext cx="967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Gutterwork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1076" y="5166741"/>
            <a:ext cx="3906520" cy="1642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  <a:tab pos="2120265" algn="l"/>
                <a:tab pos="2349500" algn="l"/>
              </a:tabLst>
            </a:pPr>
            <a:r>
              <a:rPr dirty="0" sz="1200" spc="-10">
                <a:latin typeface="Calibri"/>
                <a:cs typeface="Calibri"/>
              </a:rPr>
              <a:t>Siding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000" spc="-50">
                <a:latin typeface="Symbol"/>
                <a:cs typeface="Symbol"/>
              </a:rPr>
              <a:t>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4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period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20">
                <a:latin typeface="Calibri"/>
                <a:cs typeface="Calibri"/>
              </a:rPr>
              <a:t> sale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1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re-investing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570857"/>
            <a:ext cx="958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Inspections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4868036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326885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517128" y="1002538"/>
            <a:ext cx="1003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0" b="1">
                <a:latin typeface="Calibri"/>
                <a:cs typeface="Calibri"/>
              </a:rPr>
              <a:t>103b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37719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 spc="-20">
                <a:solidFill>
                  <a:srgbClr val="000000"/>
                </a:solidFill>
              </a:rPr>
              <a:t>: </a:t>
            </a:r>
            <a:r>
              <a:rPr dirty="0" sz="1800">
                <a:solidFill>
                  <a:srgbClr val="000000"/>
                </a:solidFill>
              </a:rPr>
              <a:t>New</a:t>
            </a:r>
            <a:r>
              <a:rPr dirty="0" sz="1800" spc="-20">
                <a:solidFill>
                  <a:srgbClr val="000000"/>
                </a:solidFill>
              </a:rPr>
              <a:t> York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104257" y="1535937"/>
            <a:ext cx="1722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104257" y="2188210"/>
            <a:ext cx="101473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Founded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2022.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104257" y="2433040"/>
            <a:ext cx="4279265" cy="9886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900"/>
              </a:lnSpc>
              <a:spcBef>
                <a:spcPts val="100"/>
              </a:spcBef>
            </a:pPr>
            <a:r>
              <a:rPr dirty="0" sz="1100">
                <a:latin typeface="Calibri"/>
                <a:cs typeface="Calibri"/>
              </a:rPr>
              <a:t>Seeing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recent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incoming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business,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will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result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$1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revenue</a:t>
            </a:r>
            <a:r>
              <a:rPr dirty="0" sz="1100" spc="-25">
                <a:latin typeface="Calibri"/>
                <a:cs typeface="Calibri"/>
              </a:rPr>
              <a:t> in </a:t>
            </a:r>
            <a:r>
              <a:rPr dirty="0" sz="1100">
                <a:latin typeface="Calibri"/>
                <a:cs typeface="Calibri"/>
              </a:rPr>
              <a:t>March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2024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alone.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100">
                <a:latin typeface="Calibri"/>
                <a:cs typeface="Calibri"/>
              </a:rPr>
              <a:t>Currently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building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online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sales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portal.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100" spc="-10">
                <a:latin typeface="Calibri"/>
                <a:cs typeface="Calibri"/>
              </a:rPr>
              <a:t>Storm-</a:t>
            </a:r>
            <a:r>
              <a:rPr dirty="0" sz="1100">
                <a:latin typeface="Calibri"/>
                <a:cs typeface="Calibri"/>
              </a:rPr>
              <a:t>Related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fluctuated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between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50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80%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revenue.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4982845" y="4551679"/>
          <a:ext cx="4694555" cy="1200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$3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2024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(proj)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$6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16.7%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5079746" y="584707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~65%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~35%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 descr=""/>
          <p:cNvSpPr txBox="1"/>
          <p:nvPr/>
        </p:nvSpPr>
        <p:spPr>
          <a:xfrm>
            <a:off x="481076" y="4570857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1076" y="4868036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1076" y="5166741"/>
            <a:ext cx="4069715" cy="1642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  <a:tab pos="2120265" algn="l"/>
                <a:tab pos="2349500" algn="l"/>
              </a:tabLst>
            </a:pPr>
            <a:r>
              <a:rPr dirty="0" sz="1200">
                <a:latin typeface="Calibri"/>
                <a:cs typeface="Calibri"/>
              </a:rPr>
              <a:t>Siding,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Trim,</a:t>
            </a:r>
            <a:r>
              <a:rPr dirty="0" sz="1200" spc="-10">
                <a:latin typeface="Calibri"/>
                <a:cs typeface="Calibri"/>
              </a:rPr>
              <a:t> Gutters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000" spc="-50">
                <a:latin typeface="Symbol"/>
                <a:cs typeface="Symbol"/>
              </a:rPr>
              <a:t>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200">
                <a:latin typeface="Calibri"/>
                <a:cs typeface="Calibri"/>
              </a:rPr>
              <a:t>Insurance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Claims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88900" indent="-228600">
              <a:lnSpc>
                <a:spcPct val="120800"/>
              </a:lnSpc>
              <a:spcBef>
                <a:spcPts val="14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founding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2022.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1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period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sale.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4570857"/>
            <a:ext cx="958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Inspections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589022" y="4868036"/>
            <a:ext cx="9791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326885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104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5502275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5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18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Exterior</a:t>
            </a:r>
            <a:r>
              <a:rPr dirty="0" sz="1800" spc="-5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Remodeling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spc="-3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Pennsylvania</a:t>
            </a:r>
            <a:r>
              <a:rPr dirty="0" sz="1800" spc="-35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and</a:t>
            </a:r>
            <a:r>
              <a:rPr dirty="0" sz="1800" spc="-40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New</a:t>
            </a:r>
            <a:r>
              <a:rPr dirty="0" sz="1800" spc="-50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Jersey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2470530"/>
            <a:ext cx="14097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Non-</a:t>
            </a:r>
            <a:r>
              <a:rPr dirty="0" sz="1200">
                <a:latin typeface="Calibri"/>
                <a:cs typeface="Calibri"/>
              </a:rPr>
              <a:t>Union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workforce.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06721" y="1502410"/>
            <a:ext cx="4244340" cy="1772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325200"/>
              </a:lnSpc>
              <a:spcBef>
                <a:spcPts val="120"/>
              </a:spcBef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2001,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original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taken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partner. </a:t>
            </a:r>
            <a:r>
              <a:rPr dirty="0" sz="1200">
                <a:latin typeface="Calibri"/>
                <a:cs typeface="Calibri"/>
              </a:rPr>
              <a:t>80%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2023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non-roofing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business:</a:t>
            </a:r>
            <a:endParaRPr sz="1200">
              <a:latin typeface="Calibri"/>
              <a:cs typeface="Calibri"/>
            </a:endParaRPr>
          </a:p>
          <a:p>
            <a:pPr marL="276225" indent="-263525">
              <a:lnSpc>
                <a:spcPct val="100000"/>
              </a:lnSpc>
              <a:spcBef>
                <a:spcPts val="915"/>
              </a:spcBef>
              <a:buSzPct val="83333"/>
              <a:buFont typeface="Symbol"/>
              <a:buChar char=""/>
              <a:tabLst>
                <a:tab pos="276225" algn="l"/>
              </a:tabLst>
            </a:pPr>
            <a:r>
              <a:rPr dirty="0" sz="1200">
                <a:latin typeface="Calibri"/>
                <a:cs typeface="Calibri"/>
              </a:rPr>
              <a:t>$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windows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Doors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006721" y="3363595"/>
            <a:ext cx="12839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6225" indent="-26352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76225" algn="l"/>
              </a:tabLst>
            </a:pPr>
            <a:r>
              <a:rPr dirty="0" sz="1200">
                <a:latin typeface="Calibri"/>
                <a:cs typeface="Calibri"/>
              </a:rPr>
              <a:t>$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06721" y="3660775"/>
            <a:ext cx="11798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6225" indent="-26352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76225" algn="l"/>
              </a:tabLst>
            </a:pPr>
            <a:r>
              <a:rPr dirty="0" sz="1200">
                <a:latin typeface="Calibri"/>
                <a:cs typeface="Calibri"/>
              </a:rPr>
              <a:t>$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Siding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4982845" y="4493640"/>
          <a:ext cx="4694555" cy="1201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18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marL="37465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5.6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60" b="1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15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marL="37465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6.7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60" b="1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5040757" y="58060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3" name="object 13" descr=""/>
          <p:cNvSpPr txBox="1"/>
          <p:nvPr/>
        </p:nvSpPr>
        <p:spPr>
          <a:xfrm>
            <a:off x="481076" y="4570857"/>
            <a:ext cx="1446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1076" y="4868036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81076" y="5166741"/>
            <a:ext cx="6273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Siding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589022" y="4570857"/>
            <a:ext cx="9791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589022" y="4868036"/>
            <a:ext cx="1261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Windows/Doors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589022" y="5166741"/>
            <a:ext cx="968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Gutterwork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105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5639180"/>
            <a:ext cx="3937635" cy="1368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144780" indent="-228600">
              <a:lnSpc>
                <a:spcPct val="120800"/>
              </a:lnSpc>
              <a:spcBef>
                <a:spcPts val="108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conversation </a:t>
            </a:r>
            <a:r>
              <a:rPr dirty="0" sz="1200">
                <a:latin typeface="Calibri"/>
                <a:cs typeface="Calibri"/>
              </a:rPr>
              <a:t>regarding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post</a:t>
            </a:r>
            <a:r>
              <a:rPr dirty="0" sz="1200" spc="-20">
                <a:latin typeface="Calibri"/>
                <a:cs typeface="Calibri"/>
              </a:rPr>
              <a:t> sale.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61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involved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mostly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focused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 </a:t>
            </a:r>
            <a:r>
              <a:rPr dirty="0" sz="1200">
                <a:latin typeface="Calibri"/>
                <a:cs typeface="Calibri"/>
              </a:rPr>
              <a:t>sales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point.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84836"/>
            <a:ext cx="34829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18008" y="519430"/>
            <a:ext cx="4357370" cy="128524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800" b="1">
                <a:latin typeface="Calibri"/>
                <a:cs typeface="Calibri"/>
              </a:rPr>
              <a:t>Commercial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Roofing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Company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800" spc="-20" b="1">
                <a:latin typeface="Calibri"/>
                <a:cs typeface="Calibri"/>
              </a:rPr>
              <a:t>Territory: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Connecticut,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New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York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&amp;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New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Jersey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800">
              <a:latin typeface="Calibri"/>
              <a:cs typeface="Calibri"/>
            </a:endParaRPr>
          </a:p>
          <a:p>
            <a:pPr marL="175260">
              <a:lnSpc>
                <a:spcPct val="100000"/>
              </a:lnSpc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06721" y="1502410"/>
            <a:ext cx="4495165" cy="2138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2015.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>
                <a:latin typeface="Calibri"/>
                <a:cs typeface="Calibri"/>
              </a:rPr>
              <a:t>Currently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employing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50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employees,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electricians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three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crews.</a:t>
            </a:r>
            <a:endParaRPr sz="1200">
              <a:latin typeface="Calibri"/>
              <a:cs typeface="Calibri"/>
            </a:endParaRPr>
          </a:p>
          <a:p>
            <a:pPr marL="12700" marR="17145">
              <a:lnSpc>
                <a:spcPct val="121700"/>
              </a:lnSpc>
              <a:spcBef>
                <a:spcPts val="590"/>
              </a:spcBef>
            </a:pPr>
            <a:r>
              <a:rPr dirty="0" sz="1200">
                <a:latin typeface="Calibri"/>
                <a:cs typeface="Calibri"/>
              </a:rPr>
              <a:t>Overall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breakdowns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fluctuated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years,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recently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Solar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constituted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20%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Roofing’s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80%.</a:t>
            </a:r>
            <a:endParaRPr sz="1200">
              <a:latin typeface="Calibri"/>
              <a:cs typeface="Calibri"/>
            </a:endParaRPr>
          </a:p>
          <a:p>
            <a:pPr marL="12700" marR="291465">
              <a:lnSpc>
                <a:spcPct val="120800"/>
              </a:lnSpc>
              <a:spcBef>
                <a:spcPts val="600"/>
              </a:spcBef>
            </a:pPr>
            <a:r>
              <a:rPr dirty="0" sz="1200">
                <a:latin typeface="Calibri"/>
                <a:cs typeface="Calibri"/>
              </a:rPr>
              <a:t>Offering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Non-</a:t>
            </a:r>
            <a:r>
              <a:rPr dirty="0" sz="1200">
                <a:latin typeface="Calibri"/>
                <a:cs typeface="Calibri"/>
              </a:rPr>
              <a:t>Union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entities,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same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facility.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137529" y="4763973"/>
            <a:ext cx="3463925" cy="1026160"/>
          </a:xfrm>
          <a:custGeom>
            <a:avLst/>
            <a:gdLst/>
            <a:ahLst/>
            <a:cxnLst/>
            <a:rect l="l" t="t" r="r" b="b"/>
            <a:pathLst>
              <a:path w="3463925" h="1026160">
                <a:moveTo>
                  <a:pt x="3463683" y="679551"/>
                </a:moveTo>
                <a:lnTo>
                  <a:pt x="2309114" y="679551"/>
                </a:lnTo>
                <a:lnTo>
                  <a:pt x="1154569" y="679551"/>
                </a:lnTo>
                <a:lnTo>
                  <a:pt x="0" y="679551"/>
                </a:lnTo>
                <a:lnTo>
                  <a:pt x="0" y="1025575"/>
                </a:lnTo>
                <a:lnTo>
                  <a:pt x="1154557" y="1025575"/>
                </a:lnTo>
                <a:lnTo>
                  <a:pt x="2309114" y="1025575"/>
                </a:lnTo>
                <a:lnTo>
                  <a:pt x="3463683" y="1025575"/>
                </a:lnTo>
                <a:lnTo>
                  <a:pt x="3463683" y="679551"/>
                </a:lnTo>
                <a:close/>
              </a:path>
              <a:path w="3463925" h="1026160">
                <a:moveTo>
                  <a:pt x="3463683" y="0"/>
                </a:moveTo>
                <a:lnTo>
                  <a:pt x="2309114" y="0"/>
                </a:lnTo>
                <a:lnTo>
                  <a:pt x="1154569" y="0"/>
                </a:lnTo>
                <a:lnTo>
                  <a:pt x="0" y="0"/>
                </a:lnTo>
                <a:lnTo>
                  <a:pt x="0" y="339725"/>
                </a:lnTo>
                <a:lnTo>
                  <a:pt x="0" y="679500"/>
                </a:lnTo>
                <a:lnTo>
                  <a:pt x="1154557" y="679500"/>
                </a:lnTo>
                <a:lnTo>
                  <a:pt x="2309114" y="679500"/>
                </a:lnTo>
                <a:lnTo>
                  <a:pt x="3463683" y="679500"/>
                </a:lnTo>
                <a:lnTo>
                  <a:pt x="3463683" y="339775"/>
                </a:lnTo>
                <a:lnTo>
                  <a:pt x="3463683" y="0"/>
                </a:lnTo>
                <a:close/>
              </a:path>
            </a:pathLst>
          </a:custGeom>
          <a:solidFill>
            <a:srgbClr val="E2EC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5040757" y="6150584"/>
            <a:ext cx="4442460" cy="1016000"/>
            <a:chOff x="5040757" y="6150584"/>
            <a:chExt cx="4442460" cy="1016000"/>
          </a:xfrm>
        </p:grpSpPr>
        <p:sp>
          <p:nvSpPr>
            <p:cNvPr id="11" name="object 11" descr=""/>
            <p:cNvSpPr/>
            <p:nvPr/>
          </p:nvSpPr>
          <p:spPr>
            <a:xfrm>
              <a:off x="5040757" y="6150584"/>
              <a:ext cx="1683385" cy="339090"/>
            </a:xfrm>
            <a:custGeom>
              <a:avLst/>
              <a:gdLst/>
              <a:ahLst/>
              <a:cxnLst/>
              <a:rect l="l" t="t" r="r" b="b"/>
              <a:pathLst>
                <a:path w="1683384" h="339089">
                  <a:moveTo>
                    <a:pt x="1682877" y="0"/>
                  </a:moveTo>
                  <a:lnTo>
                    <a:pt x="0" y="0"/>
                  </a:lnTo>
                  <a:lnTo>
                    <a:pt x="0" y="338607"/>
                  </a:lnTo>
                  <a:lnTo>
                    <a:pt x="1682877" y="338607"/>
                  </a:lnTo>
                  <a:lnTo>
                    <a:pt x="1682877" y="0"/>
                  </a:lnTo>
                  <a:close/>
                </a:path>
              </a:pathLst>
            </a:custGeom>
            <a:solidFill>
              <a:srgbClr val="E2E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723634" y="6150584"/>
              <a:ext cx="1131570" cy="339090"/>
            </a:xfrm>
            <a:custGeom>
              <a:avLst/>
              <a:gdLst/>
              <a:ahLst/>
              <a:cxnLst/>
              <a:rect l="l" t="t" r="r" b="b"/>
              <a:pathLst>
                <a:path w="1131570" h="339089">
                  <a:moveTo>
                    <a:pt x="1131570" y="0"/>
                  </a:moveTo>
                  <a:lnTo>
                    <a:pt x="571500" y="0"/>
                  </a:lnTo>
                  <a:lnTo>
                    <a:pt x="0" y="0"/>
                  </a:lnTo>
                  <a:lnTo>
                    <a:pt x="0" y="338607"/>
                  </a:lnTo>
                  <a:lnTo>
                    <a:pt x="571500" y="338607"/>
                  </a:lnTo>
                  <a:lnTo>
                    <a:pt x="1131570" y="338607"/>
                  </a:lnTo>
                  <a:lnTo>
                    <a:pt x="1131570" y="0"/>
                  </a:lnTo>
                  <a:close/>
                </a:path>
              </a:pathLst>
            </a:custGeom>
            <a:solidFill>
              <a:srgbClr val="EAEB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855204" y="6150584"/>
              <a:ext cx="1628139" cy="339090"/>
            </a:xfrm>
            <a:custGeom>
              <a:avLst/>
              <a:gdLst/>
              <a:ahLst/>
              <a:cxnLst/>
              <a:rect l="l" t="t" r="r" b="b"/>
              <a:pathLst>
                <a:path w="1628140" h="339089">
                  <a:moveTo>
                    <a:pt x="1627758" y="0"/>
                  </a:moveTo>
                  <a:lnTo>
                    <a:pt x="0" y="0"/>
                  </a:lnTo>
                  <a:lnTo>
                    <a:pt x="0" y="338607"/>
                  </a:lnTo>
                  <a:lnTo>
                    <a:pt x="1627758" y="338607"/>
                  </a:lnTo>
                  <a:lnTo>
                    <a:pt x="1627758" y="0"/>
                  </a:lnTo>
                  <a:close/>
                </a:path>
              </a:pathLst>
            </a:custGeom>
            <a:solidFill>
              <a:srgbClr val="E2E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723634" y="6489166"/>
              <a:ext cx="1131570" cy="339090"/>
            </a:xfrm>
            <a:custGeom>
              <a:avLst/>
              <a:gdLst/>
              <a:ahLst/>
              <a:cxnLst/>
              <a:rect l="l" t="t" r="r" b="b"/>
              <a:pathLst>
                <a:path w="1131570" h="339090">
                  <a:moveTo>
                    <a:pt x="1131570" y="0"/>
                  </a:moveTo>
                  <a:lnTo>
                    <a:pt x="571500" y="0"/>
                  </a:lnTo>
                  <a:lnTo>
                    <a:pt x="0" y="0"/>
                  </a:lnTo>
                  <a:lnTo>
                    <a:pt x="0" y="338607"/>
                  </a:lnTo>
                  <a:lnTo>
                    <a:pt x="571500" y="338607"/>
                  </a:lnTo>
                  <a:lnTo>
                    <a:pt x="1131570" y="338607"/>
                  </a:lnTo>
                  <a:lnTo>
                    <a:pt x="1131570" y="0"/>
                  </a:lnTo>
                  <a:close/>
                </a:path>
              </a:pathLst>
            </a:custGeom>
            <a:solidFill>
              <a:srgbClr val="EAEB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040757" y="6827761"/>
              <a:ext cx="1683385" cy="339090"/>
            </a:xfrm>
            <a:custGeom>
              <a:avLst/>
              <a:gdLst/>
              <a:ahLst/>
              <a:cxnLst/>
              <a:rect l="l" t="t" r="r" b="b"/>
              <a:pathLst>
                <a:path w="1683384" h="339090">
                  <a:moveTo>
                    <a:pt x="1682877" y="0"/>
                  </a:moveTo>
                  <a:lnTo>
                    <a:pt x="0" y="0"/>
                  </a:lnTo>
                  <a:lnTo>
                    <a:pt x="0" y="338607"/>
                  </a:lnTo>
                  <a:lnTo>
                    <a:pt x="1682877" y="338607"/>
                  </a:lnTo>
                  <a:lnTo>
                    <a:pt x="1682877" y="0"/>
                  </a:lnTo>
                  <a:close/>
                </a:path>
              </a:pathLst>
            </a:custGeom>
            <a:solidFill>
              <a:srgbClr val="E2E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723634" y="6827761"/>
              <a:ext cx="1131570" cy="339090"/>
            </a:xfrm>
            <a:custGeom>
              <a:avLst/>
              <a:gdLst/>
              <a:ahLst/>
              <a:cxnLst/>
              <a:rect l="l" t="t" r="r" b="b"/>
              <a:pathLst>
                <a:path w="1131570" h="339090">
                  <a:moveTo>
                    <a:pt x="1131570" y="0"/>
                  </a:moveTo>
                  <a:lnTo>
                    <a:pt x="571500" y="0"/>
                  </a:lnTo>
                  <a:lnTo>
                    <a:pt x="0" y="0"/>
                  </a:lnTo>
                  <a:lnTo>
                    <a:pt x="0" y="338607"/>
                  </a:lnTo>
                  <a:lnTo>
                    <a:pt x="571500" y="338607"/>
                  </a:lnTo>
                  <a:lnTo>
                    <a:pt x="1131570" y="338607"/>
                  </a:lnTo>
                  <a:lnTo>
                    <a:pt x="1131570" y="0"/>
                  </a:lnTo>
                  <a:close/>
                </a:path>
              </a:pathLst>
            </a:custGeom>
            <a:solidFill>
              <a:srgbClr val="EAEB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855204" y="6827761"/>
              <a:ext cx="1628139" cy="339090"/>
            </a:xfrm>
            <a:custGeom>
              <a:avLst/>
              <a:gdLst/>
              <a:ahLst/>
              <a:cxnLst/>
              <a:rect l="l" t="t" r="r" b="b"/>
              <a:pathLst>
                <a:path w="1628140" h="339090">
                  <a:moveTo>
                    <a:pt x="1627758" y="0"/>
                  </a:moveTo>
                  <a:lnTo>
                    <a:pt x="0" y="0"/>
                  </a:lnTo>
                  <a:lnTo>
                    <a:pt x="0" y="338607"/>
                  </a:lnTo>
                  <a:lnTo>
                    <a:pt x="1627758" y="338607"/>
                  </a:lnTo>
                  <a:lnTo>
                    <a:pt x="1627758" y="0"/>
                  </a:lnTo>
                  <a:close/>
                </a:path>
              </a:pathLst>
            </a:custGeom>
            <a:solidFill>
              <a:srgbClr val="E2ECE3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8" name="object 18" descr=""/>
          <p:cNvGraphicFramePr>
            <a:graphicFrameLocks noGrp="1"/>
          </p:cNvGraphicFramePr>
          <p:nvPr/>
        </p:nvGraphicFramePr>
        <p:xfrm>
          <a:off x="4982845" y="4417948"/>
          <a:ext cx="4694555" cy="2732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85"/>
                <a:gridCol w="1090295"/>
                <a:gridCol w="586104"/>
                <a:gridCol w="570230"/>
                <a:gridCol w="561975"/>
                <a:gridCol w="591820"/>
                <a:gridCol w="1029335"/>
                <a:gridCol w="118745"/>
              </a:tblGrid>
              <a:tr h="33909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20979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3972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14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203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1.5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10.7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3972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15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623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16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12.5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49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C6DBC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968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45910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18159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C6DBC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9" name="object 19" descr=""/>
          <p:cNvSpPr txBox="1"/>
          <p:nvPr/>
        </p:nvSpPr>
        <p:spPr>
          <a:xfrm>
            <a:off x="481076" y="4483989"/>
            <a:ext cx="10496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81076" y="4781169"/>
            <a:ext cx="17843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Re-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Restoration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5079872"/>
            <a:ext cx="4109720" cy="1991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  <a:tab pos="2120265" algn="l"/>
                <a:tab pos="23495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Maintenance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000" spc="-50">
                <a:latin typeface="Symbol"/>
                <a:cs typeface="Symbol"/>
              </a:rPr>
              <a:t>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200">
                <a:latin typeface="Calibri"/>
                <a:cs typeface="Calibri"/>
              </a:rPr>
              <a:t>Architectural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Sheet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Metal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01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interested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rollover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investment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company.</a:t>
            </a:r>
            <a:endParaRPr sz="1200">
              <a:latin typeface="Calibri"/>
              <a:cs typeface="Calibri"/>
            </a:endParaRPr>
          </a:p>
          <a:p>
            <a:pPr marL="241300" marR="310515" indent="-228600">
              <a:lnSpc>
                <a:spcPct val="121600"/>
              </a:lnSpc>
              <a:spcBef>
                <a:spcPts val="59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Large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contracts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“Re-</a:t>
            </a:r>
            <a:r>
              <a:rPr dirty="0" sz="1200">
                <a:latin typeface="Calibri"/>
                <a:cs typeface="Calibri"/>
              </a:rPr>
              <a:t>Roofing”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anticipated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2024,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2025 </a:t>
            </a:r>
            <a:r>
              <a:rPr dirty="0" sz="1200">
                <a:latin typeface="Calibri"/>
                <a:cs typeface="Calibri"/>
              </a:rPr>
              <a:t>reducing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construction </a:t>
            </a:r>
            <a:r>
              <a:rPr dirty="0" sz="1200">
                <a:latin typeface="Calibri"/>
                <a:cs typeface="Calibri"/>
              </a:rPr>
              <a:t>further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down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~20%.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6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Losses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incurred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jobsite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water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damage </a:t>
            </a:r>
            <a:r>
              <a:rPr dirty="0" sz="1200">
                <a:latin typeface="Calibri"/>
                <a:cs typeface="Calibri"/>
              </a:rPr>
              <a:t>reflected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EBITDA.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589022" y="4483989"/>
            <a:ext cx="13512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Solar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589022" y="4781169"/>
            <a:ext cx="1169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Waterproofing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106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60833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California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480560" cy="2138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1992.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active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principles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team.</a:t>
            </a:r>
            <a:endParaRPr sz="1200">
              <a:latin typeface="Calibri"/>
              <a:cs typeface="Calibri"/>
            </a:endParaRPr>
          </a:p>
          <a:p>
            <a:pPr marL="12700" marR="257810">
              <a:lnSpc>
                <a:spcPct val="121700"/>
              </a:lnSpc>
              <a:spcBef>
                <a:spcPts val="590"/>
              </a:spcBef>
            </a:pP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customer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accounted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7%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fiscal</a:t>
            </a:r>
            <a:r>
              <a:rPr dirty="0" sz="1200" spc="-20">
                <a:latin typeface="Calibri"/>
                <a:cs typeface="Calibri"/>
              </a:rPr>
              <a:t> year.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600"/>
              </a:spcBef>
            </a:pPr>
            <a:r>
              <a:rPr dirty="0" sz="1200">
                <a:latin typeface="Calibri"/>
                <a:cs typeface="Calibri"/>
              </a:rPr>
              <a:t>2022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Mix: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48%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 </a:t>
            </a:r>
            <a:r>
              <a:rPr dirty="0" sz="1200" spc="-10">
                <a:latin typeface="Calibri"/>
                <a:cs typeface="Calibri"/>
              </a:rPr>
              <a:t>Replacement,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23%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Renovations,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23% </a:t>
            </a:r>
            <a:r>
              <a:rPr dirty="0" sz="1200">
                <a:latin typeface="Calibri"/>
                <a:cs typeface="Calibri"/>
              </a:rPr>
              <a:t>Miscellaneous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6%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Service/Leaks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160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10.4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1.26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12.1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95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9.9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1.16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11.7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7.1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$.48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marL="37465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6.8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0757" y="6298057"/>
          <a:ext cx="4518660" cy="662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446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1344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Renovations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0985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Service/Leaks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169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Waterproofing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66741"/>
            <a:ext cx="8559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Estimates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107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076" y="5639180"/>
            <a:ext cx="3886835" cy="1368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91440" indent="-228600">
              <a:lnSpc>
                <a:spcPct val="120800"/>
              </a:lnSpc>
              <a:spcBef>
                <a:spcPts val="108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remain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transition </a:t>
            </a:r>
            <a:r>
              <a:rPr dirty="0" sz="1200">
                <a:latin typeface="Calibri"/>
                <a:cs typeface="Calibri"/>
              </a:rPr>
              <a:t>period,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preserve</a:t>
            </a:r>
            <a:r>
              <a:rPr dirty="0" sz="1200" spc="-10">
                <a:latin typeface="Calibri"/>
                <a:cs typeface="Calibri"/>
              </a:rPr>
              <a:t> operational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cohesiveness.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61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Strong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client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relationships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75%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repeat business.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37719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 </a:t>
            </a:r>
            <a:r>
              <a:rPr dirty="0" sz="1800" spc="-45">
                <a:solidFill>
                  <a:srgbClr val="000000"/>
                </a:solidFill>
              </a:rPr>
              <a:t>Texas</a:t>
            </a:r>
            <a:r>
              <a:rPr dirty="0" sz="1800" spc="-20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and</a:t>
            </a:r>
            <a:r>
              <a:rPr dirty="0" sz="1800" spc="-20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Montana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495800" cy="19170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2020,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under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sole</a:t>
            </a:r>
            <a:r>
              <a:rPr dirty="0" sz="1200" spc="-10">
                <a:latin typeface="Calibri"/>
                <a:cs typeface="Calibri"/>
              </a:rPr>
              <a:t> ownership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founder.</a:t>
            </a:r>
            <a:endParaRPr sz="1200">
              <a:latin typeface="Calibri"/>
              <a:cs typeface="Calibri"/>
            </a:endParaRPr>
          </a:p>
          <a:p>
            <a:pPr marL="12700" marR="676275">
              <a:lnSpc>
                <a:spcPct val="120800"/>
              </a:lnSpc>
              <a:spcBef>
                <a:spcPts val="605"/>
              </a:spcBef>
            </a:pPr>
            <a:r>
              <a:rPr dirty="0" sz="1200">
                <a:latin typeface="Calibri"/>
                <a:cs typeface="Calibri"/>
              </a:rPr>
              <a:t>Markets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itself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exterior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restoration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provider,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including gutterwork, </a:t>
            </a:r>
            <a:r>
              <a:rPr dirty="0" sz="1200">
                <a:latin typeface="Calibri"/>
                <a:cs typeface="Calibri"/>
              </a:rPr>
              <a:t>siding,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windows,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etc.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needed.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610"/>
              </a:spcBef>
            </a:pPr>
            <a:r>
              <a:rPr dirty="0" sz="1200" spc="-10">
                <a:latin typeface="Calibri"/>
                <a:cs typeface="Calibri"/>
              </a:rPr>
              <a:t>Non-</a:t>
            </a:r>
            <a:r>
              <a:rPr dirty="0" sz="1200">
                <a:latin typeface="Calibri"/>
                <a:cs typeface="Calibri"/>
              </a:rPr>
              <a:t>union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workforce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independently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contracted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force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>
                <a:latin typeface="Calibri"/>
                <a:cs typeface="Calibri"/>
              </a:rPr>
              <a:t>W-2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management.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093845"/>
          <a:ext cx="4694555" cy="1605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7.75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18.4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8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8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.5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 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8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908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44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$4.5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44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44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22.2%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44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0757" y="58060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446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5664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Solar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9791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9759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Restoration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66741"/>
            <a:ext cx="13665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Equipment</a:t>
            </a:r>
            <a:r>
              <a:rPr dirty="0" sz="1200" spc="-10">
                <a:latin typeface="Calibri"/>
                <a:cs typeface="Calibri"/>
              </a:rPr>
              <a:t> Rental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108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81076" y="5639180"/>
            <a:ext cx="3712845" cy="1368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20955" indent="-228600">
              <a:lnSpc>
                <a:spcPct val="120800"/>
              </a:lnSpc>
              <a:spcBef>
                <a:spcPts val="108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looking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exit,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discussion </a:t>
            </a:r>
            <a:r>
              <a:rPr dirty="0" sz="1200">
                <a:latin typeface="Calibri"/>
                <a:cs typeface="Calibri"/>
              </a:rPr>
              <a:t>depending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offer.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61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Montana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business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opportunity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for </a:t>
            </a:r>
            <a:r>
              <a:rPr dirty="0" sz="1200">
                <a:latin typeface="Calibri"/>
                <a:cs typeface="Calibri"/>
              </a:rPr>
              <a:t>strategic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growth.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4700270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5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5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California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2470530"/>
            <a:ext cx="15805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$5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2023.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006721" y="1502410"/>
            <a:ext cx="4440555" cy="2878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 marR="1440180">
              <a:lnSpc>
                <a:spcPct val="325200"/>
              </a:lnSpc>
              <a:spcBef>
                <a:spcPts val="120"/>
              </a:spcBef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1982,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still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original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ownership.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workforce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50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non-</a:t>
            </a:r>
            <a:r>
              <a:rPr dirty="0" sz="1200">
                <a:latin typeface="Calibri"/>
                <a:cs typeface="Calibri"/>
              </a:rPr>
              <a:t>union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employees.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615"/>
              </a:spcBef>
            </a:pPr>
            <a:r>
              <a:rPr dirty="0" sz="1200">
                <a:latin typeface="Calibri"/>
                <a:cs typeface="Calibri"/>
              </a:rPr>
              <a:t>Company’s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niche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always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flat/low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slope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an </a:t>
            </a:r>
            <a:r>
              <a:rPr dirty="0" sz="1200" spc="-10">
                <a:latin typeface="Calibri"/>
                <a:cs typeface="Calibri"/>
              </a:rPr>
              <a:t>emphasis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multi-</a:t>
            </a:r>
            <a:r>
              <a:rPr dirty="0" sz="1200">
                <a:latin typeface="Calibri"/>
                <a:cs typeface="Calibri"/>
              </a:rPr>
              <a:t>layered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“Hot-</a:t>
            </a:r>
            <a:r>
              <a:rPr dirty="0" sz="1200">
                <a:latin typeface="Calibri"/>
                <a:cs typeface="Calibri"/>
              </a:rPr>
              <a:t>Mop”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average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“Torch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Self-</a:t>
            </a:r>
            <a:r>
              <a:rPr dirty="0" sz="1200">
                <a:latin typeface="Calibri"/>
                <a:cs typeface="Calibri"/>
              </a:rPr>
              <a:t>Adhered”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rolled </a:t>
            </a:r>
            <a:r>
              <a:rPr dirty="0" sz="1200" spc="-10">
                <a:latin typeface="Calibri"/>
                <a:cs typeface="Calibri"/>
              </a:rPr>
              <a:t>roofing.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4982845" y="4758435"/>
          <a:ext cx="4518660" cy="1906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473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18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18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18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18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636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636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636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636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4800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636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636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636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636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38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446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8680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Flat </a:t>
            </a:r>
            <a:r>
              <a:rPr dirty="0" sz="1200" spc="-10">
                <a:latin typeface="Calibri"/>
                <a:cs typeface="Calibri"/>
              </a:rPr>
              <a:t>Roofs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3512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Industrial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14389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Apartment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166741"/>
            <a:ext cx="18326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Repairs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Maintenance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109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81076" y="5639180"/>
            <a:ext cx="4110990" cy="1304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planning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retire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sale.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21700"/>
              </a:lnSpc>
              <a:spcBef>
                <a:spcPts val="58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holds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“Roofing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Specific”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contractor’s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license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has </a:t>
            </a:r>
            <a:r>
              <a:rPr dirty="0" sz="1200">
                <a:latin typeface="Calibri"/>
                <a:cs typeface="Calibri"/>
              </a:rPr>
              <a:t>held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1982.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37719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 spc="-20">
                <a:solidFill>
                  <a:srgbClr val="000000"/>
                </a:solidFill>
              </a:rPr>
              <a:t>:</a:t>
            </a:r>
            <a:r>
              <a:rPr dirty="0" sz="1800" spc="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Florida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104257" y="1535937"/>
            <a:ext cx="2292350" cy="846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Founded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2017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sole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owner.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104257" y="2467482"/>
            <a:ext cx="145288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Business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100%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roofing.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104257" y="2746375"/>
            <a:ext cx="127952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latin typeface="Calibri"/>
                <a:cs typeface="Calibri"/>
              </a:rPr>
              <a:t>Non-</a:t>
            </a:r>
            <a:r>
              <a:rPr dirty="0" sz="1100">
                <a:latin typeface="Calibri"/>
                <a:cs typeface="Calibri"/>
              </a:rPr>
              <a:t>union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workforce.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104257" y="3025267"/>
            <a:ext cx="4203700" cy="4730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Calibri"/>
                <a:cs typeface="Calibri"/>
              </a:rPr>
              <a:t>Adding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2,000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square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foot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storage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1800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square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foot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office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space.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100">
                <a:latin typeface="Calibri"/>
                <a:cs typeface="Calibri"/>
              </a:rPr>
              <a:t>30%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Growth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2023,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million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people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100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miles.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$7.5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$.9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12%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5079746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3" name="object 13" descr=""/>
          <p:cNvSpPr txBox="1"/>
          <p:nvPr/>
        </p:nvSpPr>
        <p:spPr>
          <a:xfrm>
            <a:off x="481076" y="4570857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1076" y="4868036"/>
            <a:ext cx="9372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Re-Roofing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81076" y="5166741"/>
            <a:ext cx="978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589022" y="4570857"/>
            <a:ext cx="897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Inspection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589022" y="4828413"/>
            <a:ext cx="2009775" cy="4705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9235">
              <a:lnSpc>
                <a:spcPct val="1217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Shingle,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tile,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metal,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CPO,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flat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326885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110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81076" y="5620892"/>
            <a:ext cx="4061460" cy="1063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discussing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either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through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period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exiting.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4505325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6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&amp;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6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000000"/>
                </a:solidFill>
              </a:rPr>
              <a:t>Texas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497705" cy="2138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2005.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president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contractors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association</a:t>
            </a:r>
            <a:r>
              <a:rPr dirty="0" sz="1200" spc="-25">
                <a:latin typeface="Calibri"/>
                <a:cs typeface="Calibri"/>
              </a:rPr>
              <a:t> of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00" spc="-10">
                <a:latin typeface="Calibri"/>
                <a:cs typeface="Calibri"/>
              </a:rPr>
              <a:t>Texas.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>
                <a:latin typeface="Calibri"/>
                <a:cs typeface="Calibri"/>
              </a:rPr>
              <a:t>Employees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receive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1%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profit.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200">
                <a:latin typeface="Calibri"/>
                <a:cs typeface="Calibri"/>
              </a:rPr>
              <a:t>Workforce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consists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salesmen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under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own</a:t>
            </a:r>
            <a:endParaRPr sz="1200">
              <a:latin typeface="Calibri"/>
              <a:cs typeface="Calibri"/>
            </a:endParaRPr>
          </a:p>
          <a:p>
            <a:pPr marL="12700" marR="129539">
              <a:lnSpc>
                <a:spcPct val="120800"/>
              </a:lnSpc>
            </a:pPr>
            <a:r>
              <a:rPr dirty="0" sz="1200">
                <a:latin typeface="Calibri"/>
                <a:cs typeface="Calibri"/>
              </a:rPr>
              <a:t>corporation,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six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administrative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roles,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carrying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workmen’s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</a:t>
            </a:r>
            <a:r>
              <a:rPr dirty="0" sz="1200" spc="-25">
                <a:latin typeface="Calibri"/>
                <a:cs typeface="Calibri"/>
              </a:rPr>
              <a:t> and </a:t>
            </a:r>
            <a:r>
              <a:rPr dirty="0" sz="1200">
                <a:latin typeface="Calibri"/>
                <a:cs typeface="Calibri"/>
              </a:rPr>
              <a:t>builders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risk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insurance.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619244"/>
          <a:ext cx="4649470" cy="991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2995"/>
                <a:gridCol w="1154430"/>
                <a:gridCol w="1154429"/>
                <a:gridCol w="1146810"/>
              </a:tblGrid>
              <a:tr h="5010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77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77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77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2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6.3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1.6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25.4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40757" y="5811901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60%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40%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270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483989"/>
            <a:ext cx="1446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781169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079872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483989"/>
            <a:ext cx="9791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781169"/>
            <a:ext cx="1906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TPO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Wood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Shake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Metal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079872"/>
            <a:ext cx="7162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Gutters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111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076" y="5575172"/>
            <a:ext cx="4057015" cy="144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299085" indent="-228600">
              <a:lnSpc>
                <a:spcPct val="120800"/>
              </a:lnSpc>
              <a:spcBef>
                <a:spcPts val="165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discussion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regarding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25">
                <a:latin typeface="Calibri"/>
                <a:cs typeface="Calibri"/>
              </a:rPr>
              <a:t> on </a:t>
            </a:r>
            <a:r>
              <a:rPr dirty="0" sz="1200">
                <a:latin typeface="Calibri"/>
                <a:cs typeface="Calibri"/>
              </a:rPr>
              <a:t>during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transitional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period.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61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7200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Warehouse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2400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Office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Space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situated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 </a:t>
            </a:r>
            <a:r>
              <a:rPr dirty="0" sz="1200">
                <a:latin typeface="Calibri"/>
                <a:cs typeface="Calibri"/>
              </a:rPr>
              <a:t>20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acres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land.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3482975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5244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0"/>
                </a:solidFill>
              </a:rPr>
              <a:t>Georgia,</a:t>
            </a:r>
            <a:r>
              <a:rPr dirty="0" sz="1800" spc="-45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8</a:t>
            </a:r>
            <a:r>
              <a:rPr dirty="0" sz="1800" spc="-40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States</a:t>
            </a:r>
            <a:r>
              <a:rPr dirty="0" sz="1800" spc="-35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in</a:t>
            </a:r>
            <a:r>
              <a:rPr dirty="0" sz="1800" spc="-4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Region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2990215"/>
            <a:ext cx="13855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Non-</a:t>
            </a:r>
            <a:r>
              <a:rPr dirty="0" sz="1200">
                <a:latin typeface="Calibri"/>
                <a:cs typeface="Calibri"/>
              </a:rPr>
              <a:t>Union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006721" y="1502410"/>
            <a:ext cx="4495165" cy="2878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2003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ownership.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605"/>
              </a:spcBef>
            </a:pP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repair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contracts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performed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larger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 </a:t>
            </a:r>
            <a:r>
              <a:rPr dirty="0" sz="1200">
                <a:latin typeface="Calibri"/>
                <a:cs typeface="Calibri"/>
              </a:rPr>
              <a:t>projects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subcontracted.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Licensed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eight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region.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>
                <a:latin typeface="Calibri"/>
                <a:cs typeface="Calibri"/>
              </a:rPr>
              <a:t>Revenues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steadily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2020.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4982845" y="4619244"/>
          <a:ext cx="4649470" cy="991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2995"/>
                <a:gridCol w="1154430"/>
                <a:gridCol w="1154429"/>
                <a:gridCol w="1146810"/>
              </a:tblGrid>
              <a:tr h="5010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77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77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77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2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6.3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1.6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25.4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5052314" y="6240271"/>
          <a:ext cx="4518660" cy="662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481076" y="4483989"/>
            <a:ext cx="1446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4781169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1076" y="5079872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483989"/>
            <a:ext cx="9791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4781169"/>
            <a:ext cx="1906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TPO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Wood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Shake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/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Metal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589022" y="5079872"/>
            <a:ext cx="7162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Gutters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112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076" y="5575172"/>
            <a:ext cx="3710304" cy="1219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65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three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five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years </a:t>
            </a:r>
            <a:r>
              <a:rPr dirty="0" sz="1200">
                <a:latin typeface="Calibri"/>
                <a:cs typeface="Calibri"/>
              </a:rPr>
              <a:t>following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acquisition.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1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$1.5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revenues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2024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1397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7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Retail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7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</a:t>
            </a:r>
            <a:r>
              <a:rPr dirty="0" sz="1800" spc="-20">
                <a:solidFill>
                  <a:srgbClr val="000000"/>
                </a:solidFill>
              </a:rPr>
              <a:t>:</a:t>
            </a:r>
            <a:r>
              <a:rPr dirty="0" sz="1800" spc="-25">
                <a:solidFill>
                  <a:srgbClr val="000000"/>
                </a:solidFill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Central</a:t>
            </a:r>
            <a:r>
              <a:rPr dirty="0" sz="1800" spc="-25">
                <a:solidFill>
                  <a:srgbClr val="000000"/>
                </a:solidFill>
              </a:rPr>
              <a:t> </a:t>
            </a:r>
            <a:r>
              <a:rPr dirty="0" sz="1800" spc="-20">
                <a:solidFill>
                  <a:srgbClr val="000000"/>
                </a:solidFill>
              </a:rPr>
              <a:t>Ohio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104257" y="1535937"/>
            <a:ext cx="4237990" cy="2140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21000"/>
              </a:lnSpc>
              <a:spcBef>
                <a:spcPts val="5"/>
              </a:spcBef>
            </a:pP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owner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assumer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control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company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2011.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Owner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also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does</a:t>
            </a:r>
            <a:r>
              <a:rPr dirty="0" sz="1100" spc="-25">
                <a:latin typeface="Calibri"/>
                <a:cs typeface="Calibri"/>
              </a:rPr>
              <a:t> all </a:t>
            </a:r>
            <a:r>
              <a:rPr dirty="0" sz="1100">
                <a:latin typeface="Calibri"/>
                <a:cs typeface="Calibri"/>
              </a:rPr>
              <a:t>estimating.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100%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commercial,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flat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membrane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roofs.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Revenues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reported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as </a:t>
            </a:r>
            <a:r>
              <a:rPr dirty="0" sz="1100">
                <a:latin typeface="Calibri"/>
                <a:cs typeface="Calibri"/>
              </a:rPr>
              <a:t>trending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upward.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contractor.</a:t>
            </a:r>
            <a:endParaRPr sz="1100">
              <a:latin typeface="Calibri"/>
              <a:cs typeface="Calibri"/>
            </a:endParaRPr>
          </a:p>
          <a:p>
            <a:pPr marL="12700" marR="59690">
              <a:lnSpc>
                <a:spcPct val="121200"/>
              </a:lnSpc>
              <a:spcBef>
                <a:spcPts val="595"/>
              </a:spcBef>
            </a:pPr>
            <a:r>
              <a:rPr dirty="0" sz="1100">
                <a:latin typeface="Calibri"/>
                <a:cs typeface="Calibri"/>
              </a:rPr>
              <a:t>Took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over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retiring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owner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2011.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GCs,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prefers </a:t>
            </a:r>
            <a:r>
              <a:rPr dirty="0" sz="1100">
                <a:latin typeface="Calibri"/>
                <a:cs typeface="Calibri"/>
              </a:rPr>
              <a:t>working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directly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owners.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Lots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public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retail.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owner </a:t>
            </a:r>
            <a:r>
              <a:rPr dirty="0" sz="1100">
                <a:latin typeface="Calibri"/>
                <a:cs typeface="Calibri"/>
              </a:rPr>
              <a:t>would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like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term,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currently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supervises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staff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25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installers.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$5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$1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20%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79746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40%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60%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570857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868036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166741"/>
            <a:ext cx="3895725" cy="1642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Inspections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4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discussion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either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the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post-acquisition,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preference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 stay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on.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1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COVID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negative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impact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chain,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revenues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570857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868036"/>
            <a:ext cx="9791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326885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113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84836"/>
            <a:ext cx="34829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18008" y="519430"/>
            <a:ext cx="3680460" cy="128524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800" b="1">
                <a:latin typeface="Calibri"/>
                <a:cs typeface="Calibri"/>
              </a:rPr>
              <a:t>Residential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Re-</a:t>
            </a:r>
            <a:r>
              <a:rPr dirty="0" sz="1800" b="1">
                <a:latin typeface="Calibri"/>
                <a:cs typeface="Calibri"/>
              </a:rPr>
              <a:t>Roofing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Company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800" spc="-20" b="1">
                <a:latin typeface="Calibri"/>
                <a:cs typeface="Calibri"/>
              </a:rPr>
              <a:t>Territory</a:t>
            </a:r>
            <a:r>
              <a:rPr dirty="0" sz="1800" spc="-20">
                <a:latin typeface="Calibri"/>
                <a:cs typeface="Calibri"/>
              </a:rPr>
              <a:t>: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Georgia,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Alabama,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Tennessee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800">
              <a:latin typeface="Calibri"/>
              <a:cs typeface="Calibri"/>
            </a:endParaRPr>
          </a:p>
          <a:p>
            <a:pPr marL="175260">
              <a:lnSpc>
                <a:spcPct val="100000"/>
              </a:lnSpc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104257" y="1535937"/>
            <a:ext cx="4190365" cy="2014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100">
                <a:latin typeface="Calibri"/>
                <a:cs typeface="Calibri"/>
              </a:rPr>
              <a:t>Two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companies,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founded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2018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2019,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current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owners.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owner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also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salesman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involved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heavily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company’s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100">
                <a:latin typeface="Calibri"/>
                <a:cs typeface="Calibri"/>
              </a:rPr>
              <a:t>salesforce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most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through </a:t>
            </a:r>
            <a:r>
              <a:rPr dirty="0" sz="1100" spc="-10">
                <a:latin typeface="Calibri"/>
                <a:cs typeface="Calibri"/>
              </a:rPr>
              <a:t>‘doorknocking’.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20900"/>
              </a:lnSpc>
              <a:spcBef>
                <a:spcPts val="605"/>
              </a:spcBef>
            </a:pPr>
            <a:r>
              <a:rPr dirty="0" sz="1100">
                <a:latin typeface="Calibri"/>
                <a:cs typeface="Calibri"/>
              </a:rPr>
              <a:t>Only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administrative </a:t>
            </a:r>
            <a:r>
              <a:rPr dirty="0" sz="1100">
                <a:latin typeface="Calibri"/>
                <a:cs typeface="Calibri"/>
              </a:rPr>
              <a:t>employee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W-2, rest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work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 all</a:t>
            </a:r>
            <a:r>
              <a:rPr dirty="0" sz="1100" spc="-20">
                <a:latin typeface="Calibri"/>
                <a:cs typeface="Calibri"/>
              </a:rPr>
              <a:t> sub- </a:t>
            </a:r>
            <a:r>
              <a:rPr dirty="0" sz="1100" spc="-10">
                <a:latin typeface="Calibri"/>
                <a:cs typeface="Calibri"/>
              </a:rPr>
              <a:t>contracted.</a:t>
            </a:r>
            <a:endParaRPr sz="1100">
              <a:latin typeface="Calibri"/>
              <a:cs typeface="Calibri"/>
            </a:endParaRPr>
          </a:p>
          <a:p>
            <a:pPr marL="12700" marR="35560">
              <a:lnSpc>
                <a:spcPct val="121800"/>
              </a:lnSpc>
              <a:spcBef>
                <a:spcPts val="585"/>
              </a:spcBef>
            </a:pPr>
            <a:r>
              <a:rPr dirty="0" sz="1100">
                <a:latin typeface="Calibri"/>
                <a:cs typeface="Calibri"/>
              </a:rPr>
              <a:t>Several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avenues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future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savings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been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identified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upon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merging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operations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4982845" y="4551679"/>
          <a:ext cx="4694555" cy="79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80"/>
                <a:gridCol w="1154430"/>
                <a:gridCol w="1154430"/>
                <a:gridCol w="1146810"/>
              </a:tblGrid>
              <a:tr h="398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$25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$3.5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14%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5079746" y="56282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Sub-Contracted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FEBDF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481076" y="4570857"/>
            <a:ext cx="1586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New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4868036"/>
            <a:ext cx="9677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Gutterwork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1076" y="5166741"/>
            <a:ext cx="3906520" cy="1642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  <a:tab pos="2120265" algn="l"/>
                <a:tab pos="2349500" algn="l"/>
              </a:tabLst>
            </a:pPr>
            <a:r>
              <a:rPr dirty="0" sz="1200" spc="-10">
                <a:latin typeface="Calibri"/>
                <a:cs typeface="Calibri"/>
              </a:rPr>
              <a:t>Siding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000" spc="-50">
                <a:latin typeface="Symbol"/>
                <a:cs typeface="Symbol"/>
              </a:rPr>
              <a:t>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4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growth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period </a:t>
            </a:r>
            <a:r>
              <a:rPr dirty="0" sz="1200">
                <a:latin typeface="Calibri"/>
                <a:cs typeface="Calibri"/>
              </a:rPr>
              <a:t>after</a:t>
            </a:r>
            <a:r>
              <a:rPr dirty="0" sz="1200" spc="-20">
                <a:latin typeface="Calibri"/>
                <a:cs typeface="Calibri"/>
              </a:rPr>
              <a:t> sale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15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Owners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would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interested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re-investing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company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570857"/>
            <a:ext cx="958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Inspections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4868036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326885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114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" y="-53807"/>
            <a:ext cx="4700270" cy="1309370"/>
          </a:xfrm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508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1800" spc="-6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Residential</a:t>
            </a:r>
            <a:r>
              <a:rPr dirty="0" sz="1800" spc="-5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Re-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6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spc="-3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00000"/>
                </a:solidFill>
              </a:rPr>
              <a:t>AZ,</a:t>
            </a:r>
            <a:r>
              <a:rPr dirty="0" sz="1800" spc="-35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CO,</a:t>
            </a:r>
            <a:r>
              <a:rPr dirty="0" sz="1800" spc="-30">
                <a:solidFill>
                  <a:srgbClr val="000000"/>
                </a:solidFill>
              </a:rPr>
              <a:t> </a:t>
            </a:r>
            <a:r>
              <a:rPr dirty="0" sz="1800">
                <a:solidFill>
                  <a:srgbClr val="000000"/>
                </a:solidFill>
              </a:rPr>
              <a:t>KS,</a:t>
            </a:r>
            <a:r>
              <a:rPr dirty="0" sz="1800" spc="-30">
                <a:solidFill>
                  <a:srgbClr val="000000"/>
                </a:solidFill>
              </a:rPr>
              <a:t> </a:t>
            </a:r>
            <a:r>
              <a:rPr dirty="0" sz="1800" spc="-45">
                <a:solidFill>
                  <a:srgbClr val="000000"/>
                </a:solidFill>
              </a:rPr>
              <a:t>NV,</a:t>
            </a:r>
            <a:r>
              <a:rPr dirty="0" sz="1800" spc="-30">
                <a:solidFill>
                  <a:srgbClr val="000000"/>
                </a:solidFill>
              </a:rPr>
              <a:t> </a:t>
            </a:r>
            <a:r>
              <a:rPr dirty="0" sz="1800" spc="-25">
                <a:solidFill>
                  <a:srgbClr val="000000"/>
                </a:solidFill>
              </a:rPr>
              <a:t>TX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1502410"/>
            <a:ext cx="4371975" cy="2138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6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2015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owner.</a:t>
            </a:r>
            <a:endParaRPr sz="1200">
              <a:latin typeface="Calibri"/>
              <a:cs typeface="Calibri"/>
            </a:endParaRPr>
          </a:p>
          <a:p>
            <a:pPr algn="just" marL="12700" marR="5080">
              <a:lnSpc>
                <a:spcPct val="121300"/>
              </a:lnSpc>
              <a:spcBef>
                <a:spcPts val="595"/>
              </a:spcBef>
            </a:pPr>
            <a:r>
              <a:rPr dirty="0" sz="1200">
                <a:latin typeface="Calibri"/>
                <a:cs typeface="Calibri"/>
              </a:rPr>
              <a:t>Revenues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grew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$4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2022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$10.5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2023.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Ownership </a:t>
            </a:r>
            <a:r>
              <a:rPr dirty="0" sz="1200">
                <a:latin typeface="Calibri"/>
                <a:cs typeface="Calibri"/>
              </a:rPr>
              <a:t>planning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$16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2024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aiming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$20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$30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 spc="-10">
                <a:latin typeface="Calibri"/>
                <a:cs typeface="Calibri"/>
              </a:rPr>
              <a:t>2025.</a:t>
            </a:r>
            <a:endParaRPr sz="1200">
              <a:latin typeface="Calibri"/>
              <a:cs typeface="Calibri"/>
            </a:endParaRPr>
          </a:p>
          <a:p>
            <a:pPr algn="just" marL="12700" marR="114300">
              <a:lnSpc>
                <a:spcPct val="120800"/>
              </a:lnSpc>
              <a:spcBef>
                <a:spcPts val="600"/>
              </a:spcBef>
            </a:pPr>
            <a:r>
              <a:rPr dirty="0" sz="1200">
                <a:latin typeface="Calibri"/>
                <a:cs typeface="Calibri"/>
              </a:rPr>
              <a:t>Staff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employees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relatively</a:t>
            </a:r>
            <a:r>
              <a:rPr dirty="0" sz="1200" spc="-10">
                <a:latin typeface="Calibri"/>
                <a:cs typeface="Calibri"/>
              </a:rPr>
              <a:t> small/streamlined</a:t>
            </a:r>
            <a:r>
              <a:rPr dirty="0" sz="1200">
                <a:latin typeface="Calibri"/>
                <a:cs typeface="Calibri"/>
              </a:rPr>
              <a:t> for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company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at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level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revenues.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4982845" y="4619244"/>
          <a:ext cx="4649470" cy="991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2995"/>
                <a:gridCol w="1154430"/>
                <a:gridCol w="1154429"/>
                <a:gridCol w="1146810"/>
              </a:tblGrid>
              <a:tr h="5010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77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77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r>
                        <a:rPr dirty="0" sz="1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77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2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10.5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1.2</a:t>
                      </a:r>
                      <a:r>
                        <a:rPr dirty="0" sz="14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11.4</a:t>
                      </a:r>
                      <a:r>
                        <a:rPr dirty="0" sz="14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5052314" y="5973953"/>
          <a:ext cx="4518660" cy="1001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30%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70%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81076" y="4483989"/>
            <a:ext cx="1446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1076" y="4781169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5079872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89022" y="4483989"/>
            <a:ext cx="9791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781169"/>
            <a:ext cx="12820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Inspections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5079872"/>
            <a:ext cx="7162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Gutters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115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1076" y="5575172"/>
            <a:ext cx="3860165" cy="920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65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conversation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regarding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whether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 </a:t>
            </a:r>
            <a:r>
              <a:rPr dirty="0" sz="1200" spc="-25">
                <a:latin typeface="Calibri"/>
                <a:cs typeface="Calibri"/>
              </a:rPr>
              <a:t>not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post-acquisition.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pc="-10"/>
              <a:t>Acquisition</a:t>
            </a:r>
            <a:r>
              <a:rPr dirty="0" spc="-65"/>
              <a:t> </a:t>
            </a:r>
            <a:r>
              <a:rPr dirty="0" spc="-10"/>
              <a:t>Opportunity</a:t>
            </a:r>
          </a:p>
          <a:p>
            <a:pPr marL="12700" marR="608330">
              <a:lnSpc>
                <a:spcPct val="129400"/>
              </a:lnSpc>
              <a:spcBef>
                <a:spcPts val="70"/>
              </a:spcBef>
            </a:pP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Commercial</a:t>
            </a:r>
            <a:r>
              <a:rPr dirty="0" sz="1800" spc="-4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Roofing</a:t>
            </a:r>
            <a:r>
              <a:rPr dirty="0" sz="1800" spc="-4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0000"/>
                </a:solidFill>
                <a:latin typeface="Calibri"/>
                <a:cs typeface="Calibri"/>
              </a:rPr>
              <a:t>Company </a:t>
            </a:r>
            <a:r>
              <a:rPr dirty="0" sz="1800" spc="-20" b="1">
                <a:solidFill>
                  <a:srgbClr val="000000"/>
                </a:solidFill>
                <a:latin typeface="Calibri"/>
                <a:cs typeface="Calibri"/>
              </a:rPr>
              <a:t>Territory:</a:t>
            </a:r>
            <a:r>
              <a:rPr dirty="0" sz="18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0000"/>
                </a:solidFill>
              </a:rPr>
              <a:t>Massachusetts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11" y="122758"/>
            <a:ext cx="1652138" cy="762685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1402333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399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06721" y="2470530"/>
            <a:ext cx="10509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Non-</a:t>
            </a:r>
            <a:r>
              <a:rPr dirty="0" sz="1200">
                <a:latin typeface="Calibri"/>
                <a:cs typeface="Calibri"/>
              </a:rPr>
              <a:t>Union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staff.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06721" y="1502410"/>
            <a:ext cx="4030979" cy="19932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Business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Description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Founded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2011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current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ownership.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Average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project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size</a:t>
            </a:r>
            <a:r>
              <a:rPr dirty="0" sz="1200" spc="-10">
                <a:latin typeface="Calibri"/>
                <a:cs typeface="Calibri"/>
              </a:rPr>
              <a:t> approximately </a:t>
            </a:r>
            <a:r>
              <a:rPr dirty="0" sz="1200">
                <a:latin typeface="Calibri"/>
                <a:cs typeface="Calibri"/>
              </a:rPr>
              <a:t>$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MM.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20800"/>
              </a:lnSpc>
              <a:spcBef>
                <a:spcPts val="610"/>
              </a:spcBef>
            </a:pPr>
            <a:r>
              <a:rPr dirty="0" sz="1200">
                <a:latin typeface="Calibri"/>
                <a:cs typeface="Calibri"/>
              </a:rPr>
              <a:t>Strong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large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amount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repeat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business.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avenues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future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growth.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0" y="3981957"/>
            <a:ext cx="10058400" cy="25400"/>
          </a:xfrm>
          <a:custGeom>
            <a:avLst/>
            <a:gdLst/>
            <a:ahLst/>
            <a:cxnLst/>
            <a:rect l="l" t="t" r="r" b="b"/>
            <a:pathLst>
              <a:path w="10058400" h="25400">
                <a:moveTo>
                  <a:pt x="0" y="0"/>
                </a:moveTo>
                <a:lnTo>
                  <a:pt x="0" y="25400"/>
                </a:lnTo>
                <a:lnTo>
                  <a:pt x="10058400" y="25400"/>
                </a:lnTo>
                <a:lnTo>
                  <a:pt x="1005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76A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81076" y="4112133"/>
            <a:ext cx="1346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Include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4982845" y="4614671"/>
          <a:ext cx="4477385" cy="832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2995"/>
                <a:gridCol w="1623059"/>
                <a:gridCol w="1661160"/>
              </a:tblGrid>
              <a:tr h="3416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Revenues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EBITDA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</a:tr>
              <a:tr h="490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dirty="0" sz="1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27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71A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4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8-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12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27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~$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0.5</a:t>
                      </a:r>
                      <a:r>
                        <a:rPr dirty="0" sz="1400" spc="28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 b="1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327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4982845" y="5742559"/>
          <a:ext cx="4518660" cy="1339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571500"/>
                <a:gridCol w="560069"/>
                <a:gridCol w="1620520"/>
              </a:tblGrid>
              <a:tr h="332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Commercial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99%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Residential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New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Build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60%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40%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Re-Roof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71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2ECE3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Storm-Related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100%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Retail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65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Self-Performed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25" b="1">
                          <a:latin typeface="Calibri"/>
                          <a:cs typeface="Calibri"/>
                        </a:rPr>
                        <a:t>90%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Subcontracted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6DBC7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481076" y="4483989"/>
            <a:ext cx="1446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Residential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1076" y="4781169"/>
            <a:ext cx="1506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Commercial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Roofing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1076" y="5079872"/>
            <a:ext cx="1394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Replacement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89022" y="4483989"/>
            <a:ext cx="9791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Repair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89022" y="4781169"/>
            <a:ext cx="12820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Roof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Inspections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589022" y="5079872"/>
            <a:ext cx="7162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 spc="-10">
                <a:latin typeface="Calibri"/>
                <a:cs typeface="Calibri"/>
              </a:rPr>
              <a:t>Gutters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006721" y="4112133"/>
            <a:ext cx="1711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Revenue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Breakdown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639047" y="1002538"/>
            <a:ext cx="88074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KT-</a:t>
            </a:r>
            <a:r>
              <a:rPr dirty="0" sz="1800" b="1">
                <a:latin typeface="Calibri"/>
                <a:cs typeface="Calibri"/>
              </a:rPr>
              <a:t>R-</a:t>
            </a:r>
            <a:r>
              <a:rPr dirty="0" sz="1800" spc="-25" b="1">
                <a:latin typeface="Calibri"/>
                <a:cs typeface="Calibri"/>
              </a:rPr>
              <a:t>116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81076" y="5690997"/>
            <a:ext cx="3860165" cy="9328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Investment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Considerations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ct val="120800"/>
              </a:lnSpc>
              <a:spcBef>
                <a:spcPts val="174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Owner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conversation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regarding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whether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 </a:t>
            </a:r>
            <a:r>
              <a:rPr dirty="0" sz="1200" spc="-25">
                <a:latin typeface="Calibri"/>
                <a:cs typeface="Calibri"/>
              </a:rPr>
              <a:t>not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post-acquisition.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676" y="1964435"/>
            <a:ext cx="3895344" cy="1598676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531368" y="2463520"/>
            <a:ext cx="374332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4930" marR="5080" indent="-1332230">
              <a:lnSpc>
                <a:spcPct val="121400"/>
              </a:lnSpc>
              <a:spcBef>
                <a:spcPts val="100"/>
              </a:spcBef>
            </a:pPr>
            <a:r>
              <a:rPr dirty="0" sz="1400" spc="-5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request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please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contact Kevin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Townsell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313433" y="7358963"/>
            <a:ext cx="720344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14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Kevin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Townsell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(716)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563-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1781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Kevin@ShannonGroup.biz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  <a:hlinkClick r:id="rId5"/>
              </a:rPr>
              <a:t>www.ShannonGroup.biz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81076" y="1535937"/>
            <a:ext cx="1168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alibri"/>
                <a:cs typeface="Calibri"/>
              </a:rPr>
              <a:t>Company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Info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Ryan Townsell</dc:creator>
  <dcterms:created xsi:type="dcterms:W3CDTF">2024-04-12T15:55:42Z</dcterms:created>
  <dcterms:modified xsi:type="dcterms:W3CDTF">2024-04-12T15:55:42Z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2024-04-12T00:00:00Z</vt:filetime>
  </property>
  <property fmtid="{D5CDD505-2E9C-101B-9397-08002B2CF9AE}" pid="3" name="Creator">
    <vt:lpwstr>Microsoft® Publisher for Microsoft 365</vt:lpwstr>
  </property>
  <property fmtid="{D5CDD505-2E9C-101B-9397-08002B2CF9AE}" pid="4" name="LastSaved">
    <vt:filetime>2024-04-12T00:00:00Z</vt:filetime>
  </property>
  <property fmtid="{D5CDD505-2E9C-101B-9397-08002B2CF9AE}" pid="5" name="Producer">
    <vt:lpwstr>Microsoft® Publisher for Microsoft 365</vt:lpwstr>
  </property>
</Properties>
</file>